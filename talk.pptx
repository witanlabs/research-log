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Pass rate</c:v>
                </c:pt>
              </c:strCache>
            </c:strRef>
          </c:tx>
          <c:spPr>
            <a:solidFill>
              <a:srgbClr val="34D399"/>
            </a:solidFill>
            <a:ln w="38100" cap="flat">
              <a:solidFill>
                <a:srgbClr val="34D399"/>
              </a:solidFill>
              <a:prstDash val="solid"/>
              <a:round/>
            </a:ln>
            <a:effectLst/>
          </c:spPr>
          <c:invertIfNegative val="0"/>
          <c:dLbls>
            <c:numFmt formatCode="#,##0" sourceLinked="0"/>
            <c:txPr>
              <a:bodyPr/>
              <a:lstStyle/>
              <a:p>
                <a:pPr>
                  <a:defRPr b="0" i="0" strike="noStrike" sz="1200" u="none">
                    <a:solidFill>
                      <a:srgbClr val="FFFFFF"/>
                    </a:solidFill>
                    <a:latin typeface="Consolas"/>
                  </a:defRPr>
                </a:pPr>
              </a:p>
            </c:txPr>
            <c:dLblPos val="t"/>
            <c:showLegendKey val="0"/>
            <c:showVal val="1"/>
            <c:showCatName val="0"/>
            <c:showSerName val="0"/>
            <c:showPercent val="0"/>
            <c:showBubbleSize val="0"/>
            <c:showLeaderLines val="0"/>
          </c:dLbls>
          <c:marker>
            <c:symbol val="circle"/>
            <c:size val="6"/>
            <c:spPr>
              <a:solidFill>
                <a:srgbClr val="34D399"/>
              </a:solidFill>
              <a:ln w="9525" cap="flat">
                <a:solidFill>
                  <a:srgbClr val="34D399"/>
                </a:solidFill>
                <a:prstDash val="solid"/>
                <a:round/>
              </a:ln>
              <a:effectLst/>
            </c:spPr>
          </c:marker>
          <c:cat>
            <c:multiLvlStrRef>
              <c:f>Sheet1!$A$2:$A$5</c:f>
              <c:multiLvlStrCache>
                <c:ptCount val="4"/>
                <c:lvl>
                  <c:pt idx="0">
                    <c:v>Oct 27</c:v>
                  </c:pt>
                  <c:pt idx="1">
                    <c:v>Nov 30</c:v>
                  </c:pt>
                  <c:pt idx="2">
                    <c:v>Dec 11</c:v>
                  </c:pt>
                  <c:pt idx="3">
                    <c:v>Dec 14</c:v>
                  </c:pt>
                </c:lvl>
              </c:multiLvlStrCache>
            </c:multiLvlStrRef>
          </c:cat>
          <c:val>
            <c:numRef>
              <c:f>Sheet1!$B$2:$B$5</c:f>
              <c:numCache>
                <c:formatCode>General</c:formatCode>
                <c:ptCount val="4"/>
                <c:pt idx="0">
                  <c:v>73</c:v>
                </c:pt>
                <c:pt idx="1">
                  <c:v>74</c:v>
                </c:pt>
                <c:pt idx="2">
                  <c:v>88</c:v>
                </c:pt>
                <c:pt idx="3">
                  <c:v>92.1</c:v>
                </c:pt>
              </c:numCache>
            </c:numRef>
          </c:val>
          <c:smooth val="0"/>
        </c:ser>
        <c:dLbls>
          <c:numFmt formatCode="#,##0" sourceLinked="0"/>
          <c:txPr>
            <a:bodyPr/>
            <a:lstStyle/>
            <a:p>
              <a:pPr>
                <a:defRPr b="0" i="0" strike="noStrike" sz="1200" u="none">
                  <a:solidFill>
                    <a:srgbClr val="FFFFFF"/>
                  </a:solidFill>
                  <a:latin typeface="Consolas"/>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B4BCD0"/>
                </a:solidFill>
                <a:latin typeface="Arial"/>
              </a:defRPr>
            </a:pPr>
            <a:endParaRPr lang="en-US"/>
          </a:p>
        </c:txPr>
        <c:crossAx val="2094734552"/>
        <c:crosses val="autoZero"/>
        <c:auto val="1"/>
        <c:lblAlgn val="ctr"/>
        <c:noMultiLvlLbl val="1"/>
      </c:catAx>
      <c:valAx>
        <c:axId val="2094734552"/>
        <c:scaling>
          <c:orientation val="minMax"/>
          <c:max val="100"/>
          <c:min val="40"/>
        </c:scaling>
        <c:delete val="0"/>
        <c:axPos val="l"/>
        <c:majorGridlines>
          <c:spPr>
            <a:ln w="6350" cap="flat">
              <a:solidFill>
                <a:srgbClr val="363B4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B4BCD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282D3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 No preamble needed — the title tells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going to tell you a story about building an agent that reads and modifies Excel spreadsheets. We started at 50% accuracy on a financial analysis benchmark and got to 92%. This talk is about what actually moved the needle — and what didn't. The short version: we kept building more tools, and the agent kept wanting to program. Once we let it, everything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Spreadsheets are deceptively hard for AI. A human glances at a financial model and instantly sees structure — there's a revenue table here, assumptions in that yellow corner, a chart summarizing the P&amp;L. They know "Q4" means the fourth column, parentheses mean negative numbers, the cell labeled "EBITDA" is derived from the ones above it.
An LLM sees none of this. Give it a 20-sheet financial model and ask "what's the IRR?" and it has to figure out not just what IRR means, but which of 10,000 cells contains the answer, which sheet it's on, and whether that number is an input or a calculated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instinct: transform the problem. LLMs are good at SQL, so we built a pipeline that converts entire workbooks into SQLite databases. The agent had a handful of tools — run a SQL query, write to a cell, insert a row. Each tool call was a separate round-trip to the model.
Tested against SpreadsheetBench, 130 tasks. First result: 50% pass rate. Not great.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then we found something. A one-character bug in our extraction code — a wrong function argument — was silently corrupting data for a large fraction of tasks. Fixing that single character moved us from 50 to 73%. More than any prompt engineering we'd done.
The agent had looked confused — giving wrong answers, failing to find data. We blamed the model. But it was reasoning correctly over bad inputs. This became a recurring pattern: when the agent seems confused, suspect the plumbing. Agent failures that look like reasoning failures are frequently data pipeline bugs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split into three agents. The important one was the edit agent's five-step reasoning process: disambiguate the request, define the desired end state, plan the implementation, execute, verify. This changed the kind of errors we got. Without it, the agent made irreversible mistakes mid-execution. With it, most errors surfaced during planning, where they're cheap. This worked better than giving the agent better tools, more context, or a stronger model.
But the architecture was rigid. Discovery happened once. Three LLM calls per task was expensive. And we still had 15+ tools the agent was juggling.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pivoted to TypeScript and .NET for better Excel fidelity. Then spent two weeks trying every possible way to represent a workbook to the LLM. TSV, SQL, HTML, Graphviz, XML. Each captured some aspects and lost others.
The breakthrough came from abandoning the search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November 23rd, we made the single most impactful decision of the project. We threw away all 15 tools and gave the agent one: a persistent Node.js REPL with access to a rich spreadsheet API.
Instead of "read this cell", "search for this label", "write this value" as separate tools, the agent writes JavaScript code. Variables persist across calls. The API has 30+ functions for reading, searching, tracing formulas, and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changed concretely. Before: exploring a workbook took 10 to 15 tool calls. Each one is an LLM round-trip — the model has to decide what to do, format the tool call, wait for a result, interpret it, decide the next step.
After: the same exploration in one call. Three operations, all results visible together. But it goes further than just batching.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this worked beyond the obvious batching benefit.
One: composability. Results of one operation feed into the next within the same call.
Two: state persistence. The agent opens a workbook in call one, and the handle is still there in call two. It builds up understanding incrementally without re-querying.
Three: flexible exploration. The agent can try something, check the result, and adapt — in a single tool call. Conditionals, loops, error recovery. This is something discrete tools fundamentally can't do.
Four: API evolution. Adding a new capability means adding a function to the library. The agent picks it up immediately through the REPL. No tool schema changes, no registration, no plumbing.
If your agent is making many small sequential tool calls that compose into a larger operation, you've probably reinvented a bad scripting language. Give it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encoded three hard rules in the system prompt, each one a scar from a previous failure.
"Zero new formula errors" — the agent used to make edits that silently broke downstream formulas. Now it checks after every write.
"Use the model, not JavaScript math" — the agent used to calculate things in code instead of reading from the spreadsheet's formula engine. Sounds fine, except the spreadsheet's formulas are the source of truth, and the agent's arithmetic was sometimes wrong.
"Always cite sheet and address" — every answer must be verifiable. This seems like a small thing but it changed how the agent approached problems. It couldn't just say "revenue is $1.2 million." It had to show where that number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REPL in place, results improved fast. 74% on November 30th. 88% eleven days later. 92% three days after that. Zero timeouts, 50-second average.
No single change was dramatic. Better fuzzy search, formula tracing functions, improved system prompt documentation, bug fixes in the .NET backend. Each one removed a class of failures, and the effects multiplied.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this isn't a story that ends with "we built a thing and it worked." By February, we had two Witan workflows. The REPL approach that hit 92%. And a separate set of CLI commands — find, calc, render, lint — designed as standalone verification tools. We tested that second workflow against plain openpyxl — a basic Python library — on 20 QnA tasks.
We expected our more sophisticated tool to win. It had a .NET formula engine, semantic linting, visual rendering. openpyxl can't even recalculate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openpyxl won. 85 to 70. The simpler approach won by 15 percentage points, with half the tool calls.
[Pause here —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reasons were mundane. A performance bug in the recalculation engine — it queried the dependency index per cell instead of in batch. Each command took 50 to 130 seconds. With 20+ operations per task, you blow the timeout.
Sheet names with spaces broke across three quoting layers — the SDK, zsh, and the .NET parser. And our own documentation had the quoting examples backwards. The agent followed our wrong instructions faithfully.
Meanwhile, openpyxl: Python strings, millisecond file access, zero infrastructure, zero quoting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here's the thing. This test answered a question we hadn't quite asked: should the REPL be the external product?
We'd built it as an internal tool for our own agent. The CLI comparison showed exactly why it worked — a single exec invocation runs an entire exploration script without the per-operation overhead that killed the CLI approach.
So we externalized it. witan xlsx exec — any coding agent can use it, not just ours. The remaining CLI commands found their role as a lightweight verification add-on for agents that already use openpyxl or pandas.
Two products from one failed test. We wouldn't have found either insight if the test had confirmed what we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that surprised us. We went through four tool backends in four months. The financial domain knowledge — how to interpret margins, what "profitability" actually asks for, that revenue changes cascade through COGS and working capital — improved results on every single one of them.
We structured it as reusable prompt components. A "financial expert mindset" skill that could be composed with any tool approach. It became the most reused component in the system.
If you're building a domain-specific agent, the domain knowledge is the product. The tools are replaceable.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lesson. We started with an LLM comparing agent output to gold-standard workbooks. It was unreliable — inconsistent judgments that masked real regressions. We couldn't tell if a score change was the agent improving or the evaluator being flaky.
We ended up with five specialized evaluation strategies. Set similarity for values. Dynamic programming sequence alignment for layout. Pixel-accurate comparison for formatting. And LLM grading only — only — for genuinely subjective text answers.
29,000 lines of TypeScript, 568 commits. The evaluation framework was nearly as complex as the agent itself. Every significant improvement in the project traced back to a benchmark result. Without rigorous, automated, deterministic evaluation, we'd be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recurring theme throughout the project. Every time we thought the agent was confused or the model was failing, the actual problem was somewhere in the infrastructure.
The one-character extraction bug that looked like model confusion. Documentation with backwards examples that the agent followed faithfully. A performance bug that looked like the agent being slow. An intermittent API failure that looked like the agent retrying for no reason.
When the agent seems confused, suspect the plumbing first. This is probably the most practically useful thing I can tell you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generalizes beyond spreadsheets?
One. If your agent is making many small sequential tool calls that compose into a larger operation, you've reinvented a bad scripting language. Give it a real one. This applies anywhere — data analysis, code generation, system administration.
Two. Structured reasoning beats better tools. Making the agent think before acting — defining the end state before executing — was more impactful than any tool we built.
Three. Domain knowledge is the product. We went through four tool backends. The domain knowledge improved results on all of them and outlasted all of them.
Four. Evaluate deterministically. LLM-as-judge is fine for vibes. For measuring real progress, use programmatic comparison wherever possible.
Five. When the agent seems confused, blame the plumbing first. Check the data pipeline, the documentation, the API. The model is usually the last thing that's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spent four months trying to make an LLM work with spreadsheets. We tried databases, specialized tools, multi-agent architectures, multiple representations. The breakthrough was giving up on constraining the agent and letting it program.
The REPL didn't just improve performance — it collapsed complexity, made the API trivially extensible, and eventually became the product itself.
If there's one thing to take away: stop building more tools. Build better environments.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1097280"/>
            <a:ext cx="7680960" cy="731520"/>
          </a:xfrm>
          <a:prstGeom prst="rect">
            <a:avLst/>
          </a:prstGeom>
          <a:noFill/>
          <a:ln/>
        </p:spPr>
        <p:txBody>
          <a:bodyPr wrap="square" lIns="0" tIns="0" rIns="0" bIns="0" rtlCol="0" anchor="ctr"/>
          <a:lstStyle/>
          <a:p>
            <a:pPr indent="0" marL="0">
              <a:buNone/>
            </a:pPr>
            <a:r>
              <a:rPr lang="en-US" sz="4000" b="1" dirty="0">
                <a:solidFill>
                  <a:srgbClr val="FFFFFF"/>
                </a:solidFill>
                <a:latin typeface="Consolas" pitchFamily="34" charset="0"/>
                <a:ea typeface="Consolas" pitchFamily="34" charset="-122"/>
                <a:cs typeface="Consolas" pitchFamily="34" charset="-120"/>
              </a:rPr>
              <a:t>We Built 15 Tools.</a:t>
            </a:r>
            <a:endParaRPr lang="en-US" sz="4000" dirty="0"/>
          </a:p>
        </p:txBody>
      </p:sp>
      <p:sp>
        <p:nvSpPr>
          <p:cNvPr id="3" name="Text 1"/>
          <p:cNvSpPr/>
          <p:nvPr/>
        </p:nvSpPr>
        <p:spPr>
          <a:xfrm>
            <a:off x="731520" y="1783080"/>
            <a:ext cx="7680960" cy="731520"/>
          </a:xfrm>
          <a:prstGeom prst="rect">
            <a:avLst/>
          </a:prstGeom>
          <a:noFill/>
          <a:ln/>
        </p:spPr>
        <p:txBody>
          <a:bodyPr wrap="square" lIns="0" tIns="0" rIns="0" bIns="0" rtlCol="0" anchor="ctr"/>
          <a:lstStyle/>
          <a:p>
            <a:pPr indent="0" marL="0">
              <a:buNone/>
            </a:pPr>
            <a:r>
              <a:rPr lang="en-US" sz="4000" b="1" dirty="0">
                <a:solidFill>
                  <a:srgbClr val="F59E0B"/>
                </a:solidFill>
                <a:latin typeface="Consolas" pitchFamily="34" charset="0"/>
                <a:ea typeface="Consolas" pitchFamily="34" charset="-122"/>
                <a:cs typeface="Consolas" pitchFamily="34" charset="-120"/>
              </a:rPr>
              <a:t>The Agent Wanted a REPL.</a:t>
            </a:r>
            <a:endParaRPr lang="en-US" sz="4000" dirty="0"/>
          </a:p>
        </p:txBody>
      </p:sp>
      <p:sp>
        <p:nvSpPr>
          <p:cNvPr id="4" name="Text 2"/>
          <p:cNvSpPr/>
          <p:nvPr/>
        </p:nvSpPr>
        <p:spPr>
          <a:xfrm>
            <a:off x="731520" y="3108960"/>
            <a:ext cx="4572000" cy="10972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Nuno Campos</a:t>
            </a:r>
            <a:endParaRPr lang="en-US" sz="1600" dirty="0"/>
          </a:p>
          <a:p>
            <a:pPr indent="0" marL="0">
              <a:buNone/>
            </a:pPr>
            <a:r>
              <a:rPr lang="en-US" sz="1300" dirty="0">
                <a:solidFill>
                  <a:srgbClr val="B4BCD0"/>
                </a:solidFill>
                <a:latin typeface="Arial" pitchFamily="34" charset="0"/>
                <a:ea typeface="Arial" pitchFamily="34" charset="-122"/>
                <a:cs typeface="Arial" pitchFamily="34" charset="-120"/>
              </a:rPr>
              <a:t>Co-Founder &amp; CTO, Witan Labs</a:t>
            </a:r>
            <a:endParaRPr lang="en-US" sz="1600" dirty="0"/>
          </a:p>
          <a:p>
            <a:pPr indent="0" marL="0">
              <a:buNone/>
            </a:pPr>
            <a:r>
              <a:rPr lang="en-US" sz="1300" dirty="0">
                <a:solidFill>
                  <a:srgbClr val="B4BCD0"/>
                </a:solidFill>
                <a:latin typeface="Arial" pitchFamily="34" charset="0"/>
                <a:ea typeface="Arial" pitchFamily="34" charset="-122"/>
                <a:cs typeface="Arial" pitchFamily="34" charset="-120"/>
              </a:rPr>
              <a:t>Previously LangChain, LangGraph</a:t>
            </a:r>
            <a:endParaRPr lang="en-US" sz="1600" dirty="0"/>
          </a:p>
        </p:txBody>
      </p:sp>
      <p:sp>
        <p:nvSpPr>
          <p:cNvPr id="5" name="Text 3"/>
          <p:cNvSpPr/>
          <p:nvPr/>
        </p:nvSpPr>
        <p:spPr>
          <a:xfrm>
            <a:off x="731520" y="4389120"/>
            <a:ext cx="7680960" cy="36576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AI Engineering London  •  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457200" y="731520"/>
            <a:ext cx="8229600" cy="1371600"/>
          </a:xfrm>
          <a:prstGeom prst="rect">
            <a:avLst/>
          </a:prstGeom>
          <a:noFill/>
          <a:ln/>
        </p:spPr>
        <p:txBody>
          <a:bodyPr wrap="square" lIns="0" tIns="0" rIns="0" bIns="0" rtlCol="0" anchor="ctr"/>
          <a:lstStyle/>
          <a:p>
            <a:pPr algn="ctr" indent="0" marL="0">
              <a:buNone/>
            </a:pPr>
            <a:r>
              <a:rPr lang="en-US" sz="7200" b="1" dirty="0">
                <a:solidFill>
                  <a:srgbClr val="F87171"/>
                </a:solidFill>
                <a:latin typeface="Consolas" pitchFamily="34" charset="0"/>
                <a:ea typeface="Consolas" pitchFamily="34" charset="-122"/>
                <a:cs typeface="Consolas" pitchFamily="34" charset="-120"/>
              </a:rPr>
              <a:t>50%</a:t>
            </a:r>
            <a:pPr algn="ctr" indent="0" marL="0">
              <a:buNone/>
            </a:pPr>
            <a:r>
              <a:rPr lang="en-US" sz="4800" dirty="0">
                <a:solidFill>
                  <a:srgbClr val="B4BCD0"/>
                </a:solidFill>
                <a:latin typeface="Consolas" pitchFamily="34" charset="0"/>
                <a:ea typeface="Consolas" pitchFamily="34" charset="-122"/>
                <a:cs typeface="Consolas" pitchFamily="34" charset="-120"/>
              </a:rPr>
              <a:t>  →  </a:t>
            </a:r>
            <a:pPr algn="ctr" indent="0" marL="0">
              <a:buNone/>
            </a:pPr>
            <a:r>
              <a:rPr lang="en-US" sz="7200" b="1" dirty="0">
                <a:solidFill>
                  <a:srgbClr val="34D399"/>
                </a:solidFill>
                <a:latin typeface="Consolas" pitchFamily="34" charset="0"/>
                <a:ea typeface="Consolas" pitchFamily="34" charset="-122"/>
                <a:cs typeface="Consolas" pitchFamily="34" charset="-120"/>
              </a:rPr>
              <a:t>92%</a:t>
            </a:r>
            <a:endParaRPr lang="en-US" sz="7200" dirty="0"/>
          </a:p>
        </p:txBody>
      </p:sp>
      <p:sp>
        <p:nvSpPr>
          <p:cNvPr id="3" name="Text 1"/>
          <p:cNvSpPr/>
          <p:nvPr/>
        </p:nvSpPr>
        <p:spPr>
          <a:xfrm>
            <a:off x="914400" y="2286000"/>
            <a:ext cx="7315200" cy="457200"/>
          </a:xfrm>
          <a:prstGeom prst="rect">
            <a:avLst/>
          </a:prstGeom>
          <a:noFill/>
          <a:ln/>
        </p:spPr>
        <p:txBody>
          <a:bodyPr wrap="square" lIns="0" tIns="0" rIns="0" bIns="0" rtlCol="0" anchor="ctr"/>
          <a:lstStyle/>
          <a:p>
            <a:pPr algn="ctr" indent="0" marL="0">
              <a:buNone/>
            </a:pPr>
            <a:r>
              <a:rPr lang="en-US" sz="1600" dirty="0">
                <a:solidFill>
                  <a:srgbClr val="B4BCD0"/>
                </a:solidFill>
                <a:latin typeface="Arial" pitchFamily="34" charset="0"/>
                <a:ea typeface="Arial" pitchFamily="34" charset="-122"/>
                <a:cs typeface="Arial" pitchFamily="34" charset="-120"/>
              </a:rPr>
              <a:t>4 months, 4 codebases, 29,000 lines of eval infrastructure</a:t>
            </a:r>
            <a:endParaRPr lang="en-US" sz="1600" dirty="0"/>
          </a:p>
        </p:txBody>
      </p:sp>
      <p:sp>
        <p:nvSpPr>
          <p:cNvPr id="4" name="Text 2"/>
          <p:cNvSpPr/>
          <p:nvPr/>
        </p:nvSpPr>
        <p:spPr>
          <a:xfrm>
            <a:off x="914400" y="3108960"/>
            <a:ext cx="7315200" cy="73152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The single biggest decision: replacing 15 discrete tools</a:t>
            </a:r>
            <a:endParaRPr lang="en-US" sz="1800" dirty="0"/>
          </a:p>
          <a:p>
            <a:pPr algn="ctr" indent="0" marL="0">
              <a:buNone/>
            </a:pPr>
            <a:r>
              <a:rPr lang="en-US" sz="1800" dirty="0">
                <a:solidFill>
                  <a:srgbClr val="FFFFFF"/>
                </a:solidFill>
                <a:latin typeface="Arial" pitchFamily="34" charset="0"/>
                <a:ea typeface="Arial" pitchFamily="34" charset="-122"/>
                <a:cs typeface="Arial" pitchFamily="34" charset="-120"/>
              </a:rPr>
              <a:t>with one REPL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Spreadsheets are deceptively hard for AI</a:t>
            </a:r>
            <a:endParaRPr lang="en-US" sz="2800" dirty="0"/>
          </a:p>
        </p:txBody>
      </p:sp>
      <p:pic>
        <p:nvPicPr>
          <p:cNvPr id="3" name="Image 0" descr="/Users/nuno/dev/research-log/assets/financial-model.png">    </p:cNvPr>
          <p:cNvPicPr>
            <a:picLocks noChangeAspect="1"/>
          </p:cNvPicPr>
          <p:nvPr/>
        </p:nvPicPr>
        <p:blipFill>
          <a:blip r:embed="rId1"/>
          <a:stretch>
            <a:fillRect/>
          </a:stretch>
        </p:blipFill>
        <p:spPr>
          <a:xfrm>
            <a:off x="457200" y="1097280"/>
            <a:ext cx="5029200" cy="3474720"/>
          </a:xfrm>
          <a:prstGeom prst="rect">
            <a:avLst/>
          </a:prstGeom>
          <a:effectLst>
            <a:outerShdw sx="100000" sy="100000" kx="0" ky="0" algn="bl" rotWithShape="0" blurRad="101600" dist="38100" dir="8100000">
              <a:srgbClr val="000000">
                <a:alpha val="25000"/>
              </a:srgbClr>
            </a:outerShdw>
          </a:effectLst>
        </p:spPr>
      </p:pic>
      <p:sp>
        <p:nvSpPr>
          <p:cNvPr id="4" name="Text 1"/>
          <p:cNvSpPr/>
          <p:nvPr/>
        </p:nvSpPr>
        <p:spPr>
          <a:xfrm>
            <a:off x="5760720" y="1188720"/>
            <a:ext cx="2926080" cy="365760"/>
          </a:xfrm>
          <a:prstGeom prst="rect">
            <a:avLst/>
          </a:prstGeom>
          <a:noFill/>
          <a:ln/>
        </p:spPr>
        <p:txBody>
          <a:bodyPr wrap="square" lIns="0" tIns="0" rIns="0" bIns="0" rtlCol="0" anchor="ctr"/>
          <a:lstStyle/>
          <a:p>
            <a:pPr indent="0" marL="0">
              <a:buNone/>
            </a:pPr>
            <a:r>
              <a:rPr lang="en-US" sz="1400" b="1" dirty="0">
                <a:solidFill>
                  <a:srgbClr val="34D399"/>
                </a:solidFill>
                <a:latin typeface="Arial" pitchFamily="34" charset="0"/>
                <a:ea typeface="Arial" pitchFamily="34" charset="-122"/>
                <a:cs typeface="Arial" pitchFamily="34" charset="-120"/>
              </a:rPr>
              <a:t>A human sees:</a:t>
            </a:r>
            <a:endParaRPr lang="en-US" sz="1400" dirty="0"/>
          </a:p>
        </p:txBody>
      </p:sp>
      <p:sp>
        <p:nvSpPr>
          <p:cNvPr id="5" name="Text 2"/>
          <p:cNvSpPr/>
          <p:nvPr/>
        </p:nvSpPr>
        <p:spPr>
          <a:xfrm>
            <a:off x="5760720" y="1554480"/>
            <a:ext cx="2926080" cy="7315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Revenue table, assumptions,</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P&amp;L summary, color-coded</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sections, structure</a:t>
            </a:r>
            <a:endParaRPr lang="en-US" sz="1300" dirty="0"/>
          </a:p>
        </p:txBody>
      </p:sp>
      <p:sp>
        <p:nvSpPr>
          <p:cNvPr id="6" name="Text 3"/>
          <p:cNvSpPr/>
          <p:nvPr/>
        </p:nvSpPr>
        <p:spPr>
          <a:xfrm>
            <a:off x="5760720" y="2651760"/>
            <a:ext cx="2926080" cy="365760"/>
          </a:xfrm>
          <a:prstGeom prst="rect">
            <a:avLst/>
          </a:prstGeom>
          <a:noFill/>
          <a:ln/>
        </p:spPr>
        <p:txBody>
          <a:bodyPr wrap="square" lIns="0" tIns="0" rIns="0" bIns="0" rtlCol="0" anchor="ctr"/>
          <a:lstStyle/>
          <a:p>
            <a:pPr indent="0" marL="0">
              <a:buNone/>
            </a:pPr>
            <a:r>
              <a:rPr lang="en-US" sz="1400" b="1" dirty="0">
                <a:solidFill>
                  <a:srgbClr val="F87171"/>
                </a:solidFill>
                <a:latin typeface="Arial" pitchFamily="34" charset="0"/>
                <a:ea typeface="Arial" pitchFamily="34" charset="-122"/>
                <a:cs typeface="Arial" pitchFamily="34" charset="-120"/>
              </a:rPr>
              <a:t>An LLM sees:</a:t>
            </a:r>
            <a:endParaRPr lang="en-US" sz="1400" dirty="0"/>
          </a:p>
        </p:txBody>
      </p:sp>
      <p:sp>
        <p:nvSpPr>
          <p:cNvPr id="7" name="Text 4"/>
          <p:cNvSpPr/>
          <p:nvPr/>
        </p:nvSpPr>
        <p:spPr>
          <a:xfrm>
            <a:off x="5760720" y="3017520"/>
            <a:ext cx="2926080" cy="73152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10,000 cell values, cryptic</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formulas, formatting metadata</a:t>
            </a:r>
            <a:endParaRPr lang="en-US" sz="1300" dirty="0"/>
          </a:p>
          <a:p>
            <a:pPr indent="0" marL="0">
              <a:buNone/>
            </a:pPr>
            <a:r>
              <a:rPr lang="en-US" sz="1300" dirty="0">
                <a:solidFill>
                  <a:srgbClr val="FFFFFF"/>
                </a:solidFill>
                <a:latin typeface="Arial" pitchFamily="34" charset="0"/>
                <a:ea typeface="Arial" pitchFamily="34" charset="-122"/>
                <a:cs typeface="Arial" pitchFamily="34" charset="-120"/>
              </a:rPr>
              <a:t>it has no intuition for</a:t>
            </a:r>
            <a:endParaRPr lang="en-US" sz="1300" dirty="0"/>
          </a:p>
        </p:txBody>
      </p:sp>
      <p:sp>
        <p:nvSpPr>
          <p:cNvPr id="8" name="Shape 5"/>
          <p:cNvSpPr/>
          <p:nvPr/>
        </p:nvSpPr>
        <p:spPr>
          <a:xfrm>
            <a:off x="5760720" y="3931920"/>
            <a:ext cx="3017520" cy="457200"/>
          </a:xfrm>
          <a:prstGeom prst="rect">
            <a:avLst>
              <a:gd name="adj" fmla="val 10000"/>
            </a:avLst>
          </a:prstGeom>
          <a:solidFill>
            <a:srgbClr val="282D3F"/>
          </a:solidFill>
          <a:ln/>
        </p:spPr>
      </p:sp>
      <p:sp>
        <p:nvSpPr>
          <p:cNvPr id="9" name="Text 6"/>
          <p:cNvSpPr/>
          <p:nvPr/>
        </p:nvSpPr>
        <p:spPr>
          <a:xfrm>
            <a:off x="5943600" y="4069080"/>
            <a:ext cx="2651760" cy="182880"/>
          </a:xfrm>
          <a:prstGeom prst="rect">
            <a:avLst/>
          </a:prstGeom>
          <a:noFill/>
          <a:ln/>
        </p:spPr>
        <p:txBody>
          <a:bodyPr wrap="square" lIns="0" tIns="0" rIns="0" bIns="0" rtlCol="0" anchor="t"/>
          <a:lstStyle/>
          <a:p>
            <a:pPr indent="0" marL="0">
              <a:lnSpc>
                <a:spcPct val="130000"/>
              </a:lnSpc>
              <a:buNone/>
            </a:pPr>
            <a:r>
              <a:rPr lang="en-US" sz="900" dirty="0">
                <a:solidFill>
                  <a:srgbClr val="E2E8F0"/>
                </a:solidFill>
                <a:latin typeface="Consolas" pitchFamily="34" charset="0"/>
                <a:ea typeface="Consolas" pitchFamily="34" charset="-122"/>
                <a:cs typeface="Consolas" pitchFamily="34" charset="-120"/>
              </a:rPr>
              <a:t>=SUMPRODUCT((B$3:B$50="NEW")*(G$3:G$50))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Attempt 1: Turn the spreadsheet into a database</a:t>
            </a:r>
            <a:endParaRPr lang="en-US" sz="2800" dirty="0"/>
          </a:p>
        </p:txBody>
      </p:sp>
      <p:sp>
        <p:nvSpPr>
          <p:cNvPr id="3" name="Shape 1"/>
          <p:cNvSpPr/>
          <p:nvPr/>
        </p:nvSpPr>
        <p:spPr>
          <a:xfrm>
            <a:off x="731520" y="1188720"/>
            <a:ext cx="7680960" cy="10972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4" name="Text 2"/>
          <p:cNvSpPr/>
          <p:nvPr/>
        </p:nvSpPr>
        <p:spPr>
          <a:xfrm>
            <a:off x="1005840" y="1280160"/>
            <a:ext cx="7132320" cy="914400"/>
          </a:xfrm>
          <a:prstGeom prst="rect">
            <a:avLst/>
          </a:prstGeom>
          <a:noFill/>
          <a:ln/>
        </p:spPr>
        <p:txBody>
          <a:bodyPr wrap="square" lIns="0" tIns="0" rIns="0" bIns="0" rtlCol="0" anchor="ctr"/>
          <a:lstStyle/>
          <a:p>
            <a:pPr indent="0" marL="0">
              <a:buNone/>
            </a:pPr>
            <a:r>
              <a:rPr lang="en-US" sz="1800" b="1" dirty="0">
                <a:solidFill>
                  <a:srgbClr val="38BDF8"/>
                </a:solidFill>
                <a:latin typeface="Consolas" pitchFamily="34" charset="0"/>
                <a:ea typeface="Consolas" pitchFamily="34" charset="-122"/>
                <a:cs typeface="Consolas" pitchFamily="34" charset="-120"/>
              </a:rPr>
              <a:t>Excel  →  SQLite</a:t>
            </a:r>
            <a:endParaRPr lang="en-US" sz="1800" dirty="0"/>
          </a:p>
          <a:p>
            <a:pPr indent="0" marL="0">
              <a:buNone/>
            </a:pPr>
            <a:r>
              <a:rPr lang="en-US" sz="1300" dirty="0">
                <a:solidFill>
                  <a:srgbClr val="B4BCD0"/>
                </a:solidFill>
                <a:latin typeface="Arial" pitchFamily="34" charset="0"/>
                <a:ea typeface="Arial" pitchFamily="34" charset="-122"/>
                <a:cs typeface="Arial" pitchFamily="34" charset="-120"/>
              </a:rPr>
              <a:t>Every cell, formula, merged region, color block stored in relational tables</a:t>
            </a:r>
            <a:endParaRPr lang="en-US" sz="1800" dirty="0"/>
          </a:p>
        </p:txBody>
      </p:sp>
      <p:sp>
        <p:nvSpPr>
          <p:cNvPr id="5" name="Text 3"/>
          <p:cNvSpPr/>
          <p:nvPr/>
        </p:nvSpPr>
        <p:spPr>
          <a:xfrm>
            <a:off x="731520" y="2560320"/>
            <a:ext cx="3657600" cy="36576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Agent: </a:t>
            </a:r>
            <a:pPr indent="0" marL="0">
              <a:buNone/>
            </a:pPr>
            <a:r>
              <a:rPr lang="en-US" sz="1300" b="1" dirty="0">
                <a:solidFill>
                  <a:srgbClr val="FFFFFF"/>
                </a:solidFill>
                <a:latin typeface="Arial" pitchFamily="34" charset="0"/>
                <a:ea typeface="Arial" pitchFamily="34" charset="-122"/>
                <a:cs typeface="Arial" pitchFamily="34" charset="-120"/>
              </a:rPr>
              <a:t>LangGraph + GPT-5</a:t>
            </a:r>
            <a:endParaRPr lang="en-US" sz="1300" dirty="0"/>
          </a:p>
        </p:txBody>
      </p:sp>
      <p:sp>
        <p:nvSpPr>
          <p:cNvPr id="6" name="Text 4"/>
          <p:cNvSpPr/>
          <p:nvPr/>
        </p:nvSpPr>
        <p:spPr>
          <a:xfrm>
            <a:off x="731520" y="2926080"/>
            <a:ext cx="7315200" cy="36576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Tools: </a:t>
            </a:r>
            <a:pPr indent="0" marL="0">
              <a:buNone/>
            </a:pPr>
            <a:r>
              <a:rPr lang="en-US" sz="1300" dirty="0">
                <a:solidFill>
                  <a:srgbClr val="FFFFFF"/>
                </a:solidFill>
                <a:latin typeface="Arial" pitchFamily="34" charset="0"/>
                <a:ea typeface="Arial" pitchFamily="34" charset="-122"/>
                <a:cs typeface="Arial" pitchFamily="34" charset="-120"/>
              </a:rPr>
              <a:t>SQL query, write cell, insert row, delete range</a:t>
            </a:r>
            <a:endParaRPr lang="en-US" sz="1300" dirty="0"/>
          </a:p>
        </p:txBody>
      </p:sp>
      <p:sp>
        <p:nvSpPr>
          <p:cNvPr id="7" name="Text 5"/>
          <p:cNvSpPr/>
          <p:nvPr/>
        </p:nvSpPr>
        <p:spPr>
          <a:xfrm>
            <a:off x="731520" y="3291840"/>
            <a:ext cx="7315200" cy="365760"/>
          </a:xfrm>
          <a:prstGeom prst="rect">
            <a:avLst/>
          </a:prstGeom>
          <a:noFill/>
          <a:ln/>
        </p:spPr>
        <p:txBody>
          <a:bodyPr wrap="square" lIns="0" tIns="0" rIns="0" bIns="0" rtlCol="0" anchor="ctr"/>
          <a:lstStyle/>
          <a:p>
            <a:pPr indent="0" marL="0">
              <a:buNone/>
            </a:pPr>
            <a:r>
              <a:rPr lang="en-US" sz="1300" i="1" dirty="0">
                <a:solidFill>
                  <a:srgbClr val="B4BCD0"/>
                </a:solidFill>
                <a:latin typeface="Arial" pitchFamily="34" charset="0"/>
                <a:ea typeface="Arial" pitchFamily="34" charset="-122"/>
                <a:cs typeface="Arial" pitchFamily="34" charset="-120"/>
              </a:rPr>
              <a:t>Each tool call = a separate LLM round-trip</a:t>
            </a:r>
            <a:endParaRPr lang="en-US" sz="1300" dirty="0"/>
          </a:p>
        </p:txBody>
      </p:sp>
      <p:sp>
        <p:nvSpPr>
          <p:cNvPr id="8" name="Text 6"/>
          <p:cNvSpPr/>
          <p:nvPr/>
        </p:nvSpPr>
        <p:spPr>
          <a:xfrm>
            <a:off x="731520" y="3931920"/>
            <a:ext cx="2743200" cy="640080"/>
          </a:xfrm>
          <a:prstGeom prst="rect">
            <a:avLst/>
          </a:prstGeom>
          <a:noFill/>
          <a:ln/>
        </p:spPr>
        <p:txBody>
          <a:bodyPr wrap="square" lIns="0" tIns="0" rIns="0" bIns="0" rtlCol="0" anchor="ctr"/>
          <a:lstStyle/>
          <a:p>
            <a:pPr indent="0" marL="0">
              <a:buNone/>
            </a:pPr>
            <a:r>
              <a:rPr lang="en-US" sz="3600" b="1" dirty="0">
                <a:solidFill>
                  <a:srgbClr val="F87171"/>
                </a:solidFill>
                <a:latin typeface="Consolas" pitchFamily="34" charset="0"/>
                <a:ea typeface="Consolas" pitchFamily="34" charset="-122"/>
                <a:cs typeface="Consolas" pitchFamily="34" charset="-120"/>
              </a:rPr>
              <a:t>Result: 50%</a:t>
            </a:r>
            <a:endParaRPr lang="en-US"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457200" y="457200"/>
            <a:ext cx="8229600" cy="1097280"/>
          </a:xfrm>
          <a:prstGeom prst="rect">
            <a:avLst/>
          </a:prstGeom>
          <a:noFill/>
          <a:ln/>
        </p:spPr>
        <p:txBody>
          <a:bodyPr wrap="square" lIns="0" tIns="0" rIns="0" bIns="0" rtlCol="0" anchor="ctr"/>
          <a:lstStyle/>
          <a:p>
            <a:pPr algn="ctr" indent="0" marL="0">
              <a:buNone/>
            </a:pPr>
            <a:r>
              <a:rPr lang="en-US" sz="6000" b="1" dirty="0">
                <a:solidFill>
                  <a:srgbClr val="F87171"/>
                </a:solidFill>
                <a:latin typeface="Consolas" pitchFamily="34" charset="0"/>
                <a:ea typeface="Consolas" pitchFamily="34" charset="-122"/>
                <a:cs typeface="Consolas" pitchFamily="34" charset="-120"/>
              </a:rPr>
              <a:t>50%</a:t>
            </a:r>
            <a:pPr algn="ctr" indent="0" marL="0">
              <a:buNone/>
            </a:pPr>
            <a:r>
              <a:rPr lang="en-US" sz="3600" dirty="0">
                <a:solidFill>
                  <a:srgbClr val="B4BCD0"/>
                </a:solidFill>
                <a:latin typeface="Consolas" pitchFamily="34" charset="0"/>
                <a:ea typeface="Consolas" pitchFamily="34" charset="-122"/>
                <a:cs typeface="Consolas" pitchFamily="34" charset="-120"/>
              </a:rPr>
              <a:t>  →  </a:t>
            </a:r>
            <a:pPr algn="ctr" indent="0" marL="0">
              <a:buNone/>
            </a:pPr>
            <a:r>
              <a:rPr lang="en-US" sz="6000" b="1" dirty="0">
                <a:solidFill>
                  <a:srgbClr val="F59E0B"/>
                </a:solidFill>
                <a:latin typeface="Consolas" pitchFamily="34" charset="0"/>
                <a:ea typeface="Consolas" pitchFamily="34" charset="-122"/>
                <a:cs typeface="Consolas" pitchFamily="34" charset="-120"/>
              </a:rPr>
              <a:t>73%</a:t>
            </a:r>
            <a:endParaRPr lang="en-US" sz="6000" dirty="0"/>
          </a:p>
        </p:txBody>
      </p:sp>
      <p:sp>
        <p:nvSpPr>
          <p:cNvPr id="3" name="Text 1"/>
          <p:cNvSpPr/>
          <p:nvPr/>
        </p:nvSpPr>
        <p:spPr>
          <a:xfrm>
            <a:off x="914400" y="1645920"/>
            <a:ext cx="73152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Fixed one character in the extraction pipeline.</a:t>
            </a:r>
            <a:endParaRPr lang="en-US" sz="2000" dirty="0"/>
          </a:p>
        </p:txBody>
      </p:sp>
      <p:sp>
        <p:nvSpPr>
          <p:cNvPr id="4" name="Shape 2"/>
          <p:cNvSpPr/>
          <p:nvPr/>
        </p:nvSpPr>
        <p:spPr>
          <a:xfrm>
            <a:off x="3200400" y="2377440"/>
            <a:ext cx="2743200" cy="0"/>
          </a:xfrm>
          <a:prstGeom prst="line">
            <a:avLst/>
          </a:prstGeom>
          <a:noFill/>
          <a:ln w="12700">
            <a:solidFill>
              <a:srgbClr val="282D3F"/>
            </a:solidFill>
            <a:prstDash val="solid"/>
          </a:ln>
        </p:spPr>
      </p:sp>
      <p:sp>
        <p:nvSpPr>
          <p:cNvPr id="5" name="Shape 3"/>
          <p:cNvSpPr/>
          <p:nvPr/>
        </p:nvSpPr>
        <p:spPr>
          <a:xfrm>
            <a:off x="1097280" y="2743200"/>
            <a:ext cx="6949440" cy="164592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6" name="Text 4"/>
          <p:cNvSpPr/>
          <p:nvPr/>
        </p:nvSpPr>
        <p:spPr>
          <a:xfrm>
            <a:off x="1371600" y="2926080"/>
            <a:ext cx="6400800" cy="548640"/>
          </a:xfrm>
          <a:prstGeom prst="rect">
            <a:avLst/>
          </a:prstGeom>
          <a:noFill/>
          <a:ln/>
        </p:spPr>
        <p:txBody>
          <a:bodyPr wrap="square" lIns="0" tIns="0" rIns="0" bIns="0" rtlCol="0" anchor="ctr"/>
          <a:lstStyle/>
          <a:p>
            <a:pPr indent="0" marL="0">
              <a:buNone/>
            </a:pPr>
            <a:r>
              <a:rPr lang="en-US" sz="1500" dirty="0">
                <a:solidFill>
                  <a:srgbClr val="B4BCD0"/>
                </a:solidFill>
                <a:latin typeface="Arial" pitchFamily="34" charset="0"/>
                <a:ea typeface="Arial" pitchFamily="34" charset="-122"/>
                <a:cs typeface="Arial" pitchFamily="34" charset="-120"/>
              </a:rPr>
              <a:t>The agent had looked confused. Our instinct was</a:t>
            </a:r>
            <a:endParaRPr lang="en-US" sz="1500" dirty="0"/>
          </a:p>
          <a:p>
            <a:pPr indent="0" marL="0">
              <a:buNone/>
            </a:pPr>
            <a:r>
              <a:rPr lang="en-US" sz="1500" dirty="0">
                <a:solidFill>
                  <a:srgbClr val="B4BCD0"/>
                </a:solidFill>
                <a:latin typeface="Arial" pitchFamily="34" charset="0"/>
                <a:ea typeface="Arial" pitchFamily="34" charset="-122"/>
                <a:cs typeface="Arial" pitchFamily="34" charset="-120"/>
              </a:rPr>
              <a:t>to blame the model.</a:t>
            </a:r>
            <a:endParaRPr lang="en-US" sz="1500" dirty="0"/>
          </a:p>
        </p:txBody>
      </p:sp>
      <p:sp>
        <p:nvSpPr>
          <p:cNvPr id="7" name="Text 5"/>
          <p:cNvSpPr/>
          <p:nvPr/>
        </p:nvSpPr>
        <p:spPr>
          <a:xfrm>
            <a:off x="1371600" y="3566160"/>
            <a:ext cx="640080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actual problem: the agent was reasoning</a:t>
            </a:r>
            <a:endParaRPr lang="en-US" sz="1500" dirty="0"/>
          </a:p>
          <a:p>
            <a:pPr indent="0" marL="0">
              <a:buNone/>
            </a:pPr>
            <a:r>
              <a:rPr lang="en-US" sz="1500" b="1" dirty="0">
                <a:solidFill>
                  <a:srgbClr val="FFFFFF"/>
                </a:solidFill>
                <a:latin typeface="Arial" pitchFamily="34" charset="0"/>
                <a:ea typeface="Arial" pitchFamily="34" charset="-122"/>
                <a:cs typeface="Arial" pitchFamily="34" charset="-120"/>
              </a:rPr>
              <a:t>correctly over corrupted inputs.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Attempt 2: Three agents, not one</a:t>
            </a:r>
            <a:endParaRPr lang="en-US" sz="2800" dirty="0"/>
          </a:p>
        </p:txBody>
      </p:sp>
      <p:sp>
        <p:nvSpPr>
          <p:cNvPr id="3" name="Shape 1"/>
          <p:cNvSpPr/>
          <p:nvPr/>
        </p:nvSpPr>
        <p:spPr>
          <a:xfrm>
            <a:off x="731520" y="1188720"/>
            <a:ext cx="2468880" cy="210312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4" name="Shape 2"/>
          <p:cNvSpPr/>
          <p:nvPr/>
        </p:nvSpPr>
        <p:spPr>
          <a:xfrm>
            <a:off x="731520" y="1188720"/>
            <a:ext cx="2468880" cy="54864"/>
          </a:xfrm>
          <a:prstGeom prst="rect">
            <a:avLst/>
          </a:prstGeom>
          <a:solidFill>
            <a:srgbClr val="38BDF8"/>
          </a:solidFill>
          <a:ln/>
        </p:spPr>
      </p:sp>
      <p:sp>
        <p:nvSpPr>
          <p:cNvPr id="5" name="Text 3"/>
          <p:cNvSpPr/>
          <p:nvPr/>
        </p:nvSpPr>
        <p:spPr>
          <a:xfrm>
            <a:off x="914400" y="141732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Block Discovery</a:t>
            </a:r>
            <a:endParaRPr lang="en-US" sz="1400" dirty="0"/>
          </a:p>
        </p:txBody>
      </p:sp>
      <p:sp>
        <p:nvSpPr>
          <p:cNvPr id="6" name="Text 4"/>
          <p:cNvSpPr/>
          <p:nvPr/>
        </p:nvSpPr>
        <p:spPr>
          <a:xfrm>
            <a:off x="914400" y="1828800"/>
            <a:ext cx="2103120" cy="54864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Identifies workbook</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structure</a:t>
            </a:r>
            <a:endParaRPr lang="en-US" sz="1200" dirty="0"/>
          </a:p>
        </p:txBody>
      </p:sp>
      <p:sp>
        <p:nvSpPr>
          <p:cNvPr id="7" name="Text 5"/>
          <p:cNvSpPr/>
          <p:nvPr/>
        </p:nvSpPr>
        <p:spPr>
          <a:xfrm>
            <a:off x="914400" y="2560320"/>
            <a:ext cx="2103120" cy="320040"/>
          </a:xfrm>
          <a:prstGeom prst="rect">
            <a:avLst/>
          </a:prstGeom>
          <a:noFill/>
          <a:ln/>
        </p:spPr>
        <p:txBody>
          <a:bodyPr wrap="square" lIns="0" tIns="0" rIns="0" bIns="0" rtlCol="0" anchor="ctr"/>
          <a:lstStyle/>
          <a:p>
            <a:pPr indent="0" marL="0">
              <a:buNone/>
            </a:pPr>
            <a:r>
              <a:rPr lang="en-US" sz="1100" i="1" dirty="0">
                <a:solidFill>
                  <a:srgbClr val="38BDF8"/>
                </a:solidFill>
                <a:latin typeface="Arial" pitchFamily="34" charset="0"/>
                <a:ea typeface="Arial" pitchFamily="34" charset="-122"/>
                <a:cs typeface="Arial" pitchFamily="34" charset="-120"/>
              </a:rPr>
              <a:t>Low reasoning effort</a:t>
            </a:r>
            <a:endParaRPr lang="en-US" sz="1100" dirty="0"/>
          </a:p>
        </p:txBody>
      </p:sp>
      <p:sp>
        <p:nvSpPr>
          <p:cNvPr id="8" name="Shape 6"/>
          <p:cNvSpPr/>
          <p:nvPr/>
        </p:nvSpPr>
        <p:spPr>
          <a:xfrm>
            <a:off x="3474720" y="1188720"/>
            <a:ext cx="2468880" cy="210312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Shape 7"/>
          <p:cNvSpPr/>
          <p:nvPr/>
        </p:nvSpPr>
        <p:spPr>
          <a:xfrm>
            <a:off x="3474720" y="1188720"/>
            <a:ext cx="2468880" cy="54864"/>
          </a:xfrm>
          <a:prstGeom prst="rect">
            <a:avLst/>
          </a:prstGeom>
          <a:solidFill>
            <a:srgbClr val="F59E0B"/>
          </a:solidFill>
          <a:ln/>
        </p:spPr>
      </p:sp>
      <p:sp>
        <p:nvSpPr>
          <p:cNvPr id="10" name="Text 8"/>
          <p:cNvSpPr/>
          <p:nvPr/>
        </p:nvSpPr>
        <p:spPr>
          <a:xfrm>
            <a:off x="3657600" y="141732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Edit Agent</a:t>
            </a:r>
            <a:endParaRPr lang="en-US" sz="1400" dirty="0"/>
          </a:p>
        </p:txBody>
      </p:sp>
      <p:sp>
        <p:nvSpPr>
          <p:cNvPr id="11" name="Text 9"/>
          <p:cNvSpPr/>
          <p:nvPr/>
        </p:nvSpPr>
        <p:spPr>
          <a:xfrm>
            <a:off x="3657600" y="1828800"/>
            <a:ext cx="2103120" cy="54864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Modifies workbooks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via 5-step process</a:t>
            </a:r>
            <a:endParaRPr lang="en-US" sz="1200" dirty="0"/>
          </a:p>
        </p:txBody>
      </p:sp>
      <p:sp>
        <p:nvSpPr>
          <p:cNvPr id="12" name="Text 10"/>
          <p:cNvSpPr/>
          <p:nvPr/>
        </p:nvSpPr>
        <p:spPr>
          <a:xfrm>
            <a:off x="3657600" y="2560320"/>
            <a:ext cx="2103120" cy="320040"/>
          </a:xfrm>
          <a:prstGeom prst="rect">
            <a:avLst/>
          </a:prstGeom>
          <a:noFill/>
          <a:ln/>
        </p:spPr>
        <p:txBody>
          <a:bodyPr wrap="square" lIns="0" tIns="0" rIns="0" bIns="0" rtlCol="0" anchor="ctr"/>
          <a:lstStyle/>
          <a:p>
            <a:pPr indent="0" marL="0">
              <a:buNone/>
            </a:pPr>
            <a:r>
              <a:rPr lang="en-US" sz="1100" i="1" dirty="0">
                <a:solidFill>
                  <a:srgbClr val="F59E0B"/>
                </a:solidFill>
                <a:latin typeface="Arial" pitchFamily="34" charset="0"/>
                <a:ea typeface="Arial" pitchFamily="34" charset="-122"/>
                <a:cs typeface="Arial" pitchFamily="34" charset="-120"/>
              </a:rPr>
              <a:t>High reasoning effort</a:t>
            </a:r>
            <a:endParaRPr lang="en-US" sz="1100" dirty="0"/>
          </a:p>
        </p:txBody>
      </p:sp>
      <p:sp>
        <p:nvSpPr>
          <p:cNvPr id="13" name="Shape 11"/>
          <p:cNvSpPr/>
          <p:nvPr/>
        </p:nvSpPr>
        <p:spPr>
          <a:xfrm>
            <a:off x="6217920" y="1188720"/>
            <a:ext cx="2468880" cy="210312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4" name="Shape 12"/>
          <p:cNvSpPr/>
          <p:nvPr/>
        </p:nvSpPr>
        <p:spPr>
          <a:xfrm>
            <a:off x="6217920" y="1188720"/>
            <a:ext cx="2468880" cy="54864"/>
          </a:xfrm>
          <a:prstGeom prst="rect">
            <a:avLst/>
          </a:prstGeom>
          <a:solidFill>
            <a:srgbClr val="34D399"/>
          </a:solidFill>
          <a:ln/>
        </p:spPr>
      </p:sp>
      <p:sp>
        <p:nvSpPr>
          <p:cNvPr id="15" name="Text 13"/>
          <p:cNvSpPr/>
          <p:nvPr/>
        </p:nvSpPr>
        <p:spPr>
          <a:xfrm>
            <a:off x="6400800" y="1417320"/>
            <a:ext cx="2103120" cy="365760"/>
          </a:xfrm>
          <a:prstGeom prst="rect">
            <a:avLst/>
          </a:prstGeom>
          <a:noFill/>
          <a:ln/>
        </p:spPr>
        <p:txBody>
          <a:bodyPr wrap="square" lIns="0" tIns="0" rIns="0" bIns="0" rtlCol="0" anchor="ctr"/>
          <a:lstStyle/>
          <a:p>
            <a:pPr indent="0" marL="0">
              <a:buNone/>
            </a:pPr>
            <a:r>
              <a:rPr lang="en-US" sz="1400" b="1" dirty="0">
                <a:solidFill>
                  <a:srgbClr val="FFFFFF"/>
                </a:solidFill>
                <a:latin typeface="Consolas" pitchFamily="34" charset="0"/>
                <a:ea typeface="Consolas" pitchFamily="34" charset="-122"/>
                <a:cs typeface="Consolas" pitchFamily="34" charset="-120"/>
              </a:rPr>
              <a:t>Question Agent</a:t>
            </a:r>
            <a:endParaRPr lang="en-US" sz="1400" dirty="0"/>
          </a:p>
        </p:txBody>
      </p:sp>
      <p:sp>
        <p:nvSpPr>
          <p:cNvPr id="16" name="Text 14"/>
          <p:cNvSpPr/>
          <p:nvPr/>
        </p:nvSpPr>
        <p:spPr>
          <a:xfrm>
            <a:off x="6400800" y="1828800"/>
            <a:ext cx="2103120" cy="54864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Answers questions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about contents</a:t>
            </a:r>
            <a:endParaRPr lang="en-US" sz="1200" dirty="0"/>
          </a:p>
        </p:txBody>
      </p:sp>
      <p:sp>
        <p:nvSpPr>
          <p:cNvPr id="17" name="Text 15"/>
          <p:cNvSpPr/>
          <p:nvPr/>
        </p:nvSpPr>
        <p:spPr>
          <a:xfrm>
            <a:off x="6400800" y="2560320"/>
            <a:ext cx="2103120" cy="320040"/>
          </a:xfrm>
          <a:prstGeom prst="rect">
            <a:avLst/>
          </a:prstGeom>
          <a:noFill/>
          <a:ln/>
        </p:spPr>
        <p:txBody>
          <a:bodyPr wrap="square" lIns="0" tIns="0" rIns="0" bIns="0" rtlCol="0" anchor="ctr"/>
          <a:lstStyle/>
          <a:p>
            <a:pPr indent="0" marL="0">
              <a:buNone/>
            </a:pPr>
            <a:r>
              <a:rPr lang="en-US" sz="1100" i="1" dirty="0">
                <a:solidFill>
                  <a:srgbClr val="34D399"/>
                </a:solidFill>
                <a:latin typeface="Arial" pitchFamily="34" charset="0"/>
                <a:ea typeface="Arial" pitchFamily="34" charset="-122"/>
                <a:cs typeface="Arial" pitchFamily="34" charset="-120"/>
              </a:rPr>
              <a:t>Read-only</a:t>
            </a:r>
            <a:endParaRPr lang="en-US" sz="1100" dirty="0"/>
          </a:p>
        </p:txBody>
      </p:sp>
      <p:sp>
        <p:nvSpPr>
          <p:cNvPr id="18" name="Shape 16"/>
          <p:cNvSpPr/>
          <p:nvPr/>
        </p:nvSpPr>
        <p:spPr>
          <a:xfrm>
            <a:off x="731520" y="3657600"/>
            <a:ext cx="7680960" cy="100584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9" name="Text 17"/>
          <p:cNvSpPr/>
          <p:nvPr/>
        </p:nvSpPr>
        <p:spPr>
          <a:xfrm>
            <a:off x="1005840" y="3749040"/>
            <a:ext cx="7132320" cy="822960"/>
          </a:xfrm>
          <a:prstGeom prst="rect">
            <a:avLst/>
          </a:prstGeom>
          <a:noFill/>
          <a:ln/>
        </p:spPr>
        <p:txBody>
          <a:bodyPr wrap="square" lIns="0" tIns="0" rIns="0" bIns="0" rtlCol="0" anchor="ctr"/>
          <a:lstStyle/>
          <a:p>
            <a:pPr indent="0" marL="0">
              <a:buNone/>
            </a:pPr>
            <a:r>
              <a:rPr lang="en-US" sz="1400" b="1" dirty="0">
                <a:solidFill>
                  <a:srgbClr val="F59E0B"/>
                </a:solidFill>
                <a:latin typeface="Arial" pitchFamily="34" charset="0"/>
                <a:ea typeface="Arial" pitchFamily="34" charset="-122"/>
                <a:cs typeface="Arial" pitchFamily="34" charset="-120"/>
              </a:rPr>
              <a:t>Key finding: </a:t>
            </a:r>
            <a:pPr indent="0" marL="0">
              <a:buNone/>
            </a:pPr>
            <a:r>
              <a:rPr lang="en-US" sz="1300" dirty="0">
                <a:solidFill>
                  <a:srgbClr val="FFFFFF"/>
                </a:solidFill>
                <a:latin typeface="Arial" pitchFamily="34" charset="0"/>
                <a:ea typeface="Arial" pitchFamily="34" charset="-122"/>
                <a:cs typeface="Arial" pitchFamily="34" charset="-120"/>
              </a:rPr>
              <a:t>"Define the end state before you touch a cell" was the single highest-leverage prompt instruction. The 5-step process (disambiguate, define end state, plan, execute, verify) caught errors during planning, not execution.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The dead ends</a:t>
            </a:r>
            <a:endParaRPr lang="en-US" sz="2800" dirty="0"/>
          </a:p>
        </p:txBody>
      </p:sp>
      <p:sp>
        <p:nvSpPr>
          <p:cNvPr id="3" name="Text 1"/>
          <p:cNvSpPr/>
          <p:nvPr/>
        </p:nvSpPr>
        <p:spPr>
          <a:xfrm>
            <a:off x="731520" y="960120"/>
            <a:ext cx="7680960" cy="36576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We spent two weeks searching for the right static representation.</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463040"/>
          <a:ext cx="7680960" cy="914400"/>
        </p:xfrm>
        <a:graphic>
          <a:graphicData uri="http://schemas.openxmlformats.org/drawingml/2006/table">
            <a:tbl>
              <a:tblPr/>
              <a:tblGrid>
                <a:gridCol w="2560320"/>
                <a:gridCol w="5120640"/>
              </a:tblGrid>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Representation</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Why it failed</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TSV views</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Lost formatting and structural context</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SQL views</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Flat tables didn't capture visual structure</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HTML tables</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Too verbose, consumed too many tokens</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DOT graphs</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Useful for analysis, not for interaction</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65760">
                <a:tc>
                  <a:txBody>
                    <a:bodyPr/>
                    <a:lstStyle/>
                    <a:p>
                      <a:pPr indent="0" marL="0">
                        <a:buNone/>
                      </a:pPr>
                      <a:r>
                        <a:rPr lang="en-US" sz="1300" dirty="0">
                          <a:solidFill>
                            <a:srgbClr val="FFFFFF"/>
                          </a:solidFill>
                          <a:latin typeface="Arial" pitchFamily="34" charset="0"/>
                          <a:ea typeface="Arial" pitchFamily="34" charset="-122"/>
                          <a:cs typeface="Arial" pitchFamily="34" charset="-120"/>
                        </a:rPr>
                        <a:t>XML / XSLT</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300" dirty="0">
                          <a:solidFill>
                            <a:srgbClr val="FFFFFF"/>
                          </a:solidFill>
                          <a:latin typeface="Arial" pitchFamily="34" charset="0"/>
                          <a:ea typeface="Arial" pitchFamily="34" charset="-122"/>
                          <a:cs typeface="Arial" pitchFamily="34" charset="-120"/>
                        </a:rPr>
                        <a:t>LLM struggled with the syntax</a:t>
                      </a:r>
                      <a:endParaRPr lang="en-US" sz="13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bl>
          </a:graphicData>
        </a:graphic>
      </p:graphicFrame>
      <p:sp>
        <p:nvSpPr>
          <p:cNvPr id="5" name="Shape 2"/>
          <p:cNvSpPr/>
          <p:nvPr/>
        </p:nvSpPr>
        <p:spPr>
          <a:xfrm>
            <a:off x="731520" y="1463040"/>
            <a:ext cx="2560320" cy="365760"/>
          </a:xfrm>
          <a:prstGeom prst="rect">
            <a:avLst/>
          </a:prstGeom>
          <a:solidFill>
            <a:srgbClr val="282D3F"/>
          </a:solidFill>
          <a:ln/>
        </p:spPr>
      </p:sp>
      <p:sp>
        <p:nvSpPr>
          <p:cNvPr id="6" name="Shape 3"/>
          <p:cNvSpPr/>
          <p:nvPr/>
        </p:nvSpPr>
        <p:spPr>
          <a:xfrm>
            <a:off x="3291840" y="1463040"/>
            <a:ext cx="5120640" cy="365760"/>
          </a:xfrm>
          <a:prstGeom prst="rect">
            <a:avLst/>
          </a:prstGeom>
          <a:solidFill>
            <a:srgbClr val="282D3F"/>
          </a:solidFill>
          <a:ln/>
        </p:spPr>
      </p:sp>
      <p:sp>
        <p:nvSpPr>
          <p:cNvPr id="7" name="Text 4"/>
          <p:cNvSpPr/>
          <p:nvPr/>
        </p:nvSpPr>
        <p:spPr>
          <a:xfrm>
            <a:off x="731520" y="1463040"/>
            <a:ext cx="2560320" cy="365760"/>
          </a:xfrm>
          <a:prstGeom prst="rect">
            <a:avLst/>
          </a:prstGeom>
          <a:noFill/>
          <a:ln/>
        </p:spPr>
        <p:txBody>
          <a:bodyPr wrap="square" lIns="0" tIns="6350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Representation</a:t>
            </a:r>
            <a:endParaRPr lang="en-US" sz="1300" dirty="0"/>
          </a:p>
        </p:txBody>
      </p:sp>
      <p:sp>
        <p:nvSpPr>
          <p:cNvPr id="8" name="Text 5"/>
          <p:cNvSpPr/>
          <p:nvPr/>
        </p:nvSpPr>
        <p:spPr>
          <a:xfrm>
            <a:off x="3291840" y="1463040"/>
            <a:ext cx="5120640" cy="365760"/>
          </a:xfrm>
          <a:prstGeom prst="rect">
            <a:avLst/>
          </a:prstGeom>
          <a:noFill/>
          <a:ln/>
        </p:spPr>
        <p:txBody>
          <a:bodyPr wrap="square" lIns="0" tIns="63500" rIns="0" bIns="0" rtlCol="0" anchor="ctr"/>
          <a:lstStyle/>
          <a:p>
            <a:pPr indent="0" marL="0">
              <a:buNone/>
            </a:pPr>
            <a:r>
              <a:rPr lang="en-US" sz="1300" b="1" dirty="0">
                <a:solidFill>
                  <a:srgbClr val="38BDF8"/>
                </a:solidFill>
                <a:latin typeface="Arial" pitchFamily="34" charset="0"/>
                <a:ea typeface="Arial" pitchFamily="34" charset="-122"/>
                <a:cs typeface="Arial" pitchFamily="34" charset="-120"/>
              </a:rPr>
              <a:t>Why it failed</a:t>
            </a:r>
            <a:endParaRPr lang="en-US" sz="1300" dirty="0"/>
          </a:p>
        </p:txBody>
      </p:sp>
      <p:sp>
        <p:nvSpPr>
          <p:cNvPr id="9" name="Text 6"/>
          <p:cNvSpPr/>
          <p:nvPr/>
        </p:nvSpPr>
        <p:spPr>
          <a:xfrm>
            <a:off x="731520" y="4023360"/>
            <a:ext cx="7680960" cy="457200"/>
          </a:xfrm>
          <a:prstGeom prst="rect">
            <a:avLst/>
          </a:prstGeom>
          <a:noFill/>
          <a:ln/>
        </p:spPr>
        <p:txBody>
          <a:bodyPr wrap="square" lIns="0" tIns="0" rIns="0" bIns="0" rtlCol="0" anchor="ctr"/>
          <a:lstStyle/>
          <a:p>
            <a:pPr indent="0" marL="0">
              <a:buNone/>
            </a:pPr>
            <a:r>
              <a:rPr lang="en-US" sz="1600" i="1" dirty="0">
                <a:solidFill>
                  <a:srgbClr val="F59E0B"/>
                </a:solidFill>
                <a:latin typeface="Arial" pitchFamily="34" charset="0"/>
                <a:ea typeface="Arial" pitchFamily="34" charset="-122"/>
                <a:cs typeface="Arial" pitchFamily="34" charset="-120"/>
              </a:rPr>
              <a:t>The answer was to stop looking for a static representation entirely.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November 23rd: The REPL</a:t>
            </a:r>
            <a:endParaRPr lang="en-US" sz="2800" dirty="0"/>
          </a:p>
        </p:txBody>
      </p:sp>
      <p:sp>
        <p:nvSpPr>
          <p:cNvPr id="3" name="Text 1"/>
          <p:cNvSpPr/>
          <p:nvPr/>
        </p:nvSpPr>
        <p:spPr>
          <a:xfrm>
            <a:off x="731520" y="960120"/>
            <a:ext cx="7680960" cy="36576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One tool. One persistent Node.js REPL. A rich spreadsheet API.</a:t>
            </a:r>
            <a:endParaRPr lang="en-US" sz="1400" dirty="0"/>
          </a:p>
        </p:txBody>
      </p:sp>
      <p:sp>
        <p:nvSpPr>
          <p:cNvPr id="4" name="Shape 2"/>
          <p:cNvSpPr/>
          <p:nvPr/>
        </p:nvSpPr>
        <p:spPr>
          <a:xfrm>
            <a:off x="731520" y="1828800"/>
            <a:ext cx="2011680" cy="128016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5" name="Text 3"/>
          <p:cNvSpPr/>
          <p:nvPr/>
        </p:nvSpPr>
        <p:spPr>
          <a:xfrm>
            <a:off x="731520" y="2103120"/>
            <a:ext cx="2011680" cy="365760"/>
          </a:xfrm>
          <a:prstGeom prst="rect">
            <a:avLst/>
          </a:prstGeom>
          <a:noFill/>
          <a:ln/>
        </p:spPr>
        <p:txBody>
          <a:bodyPr wrap="square" lIns="0" tIns="0" rIns="0" bIns="0" rtlCol="0" anchor="ctr"/>
          <a:lstStyle/>
          <a:p>
            <a:pPr algn="ctr" indent="0" marL="0">
              <a:buNone/>
            </a:pPr>
            <a:r>
              <a:rPr lang="en-US" sz="1400" b="1" dirty="0">
                <a:solidFill>
                  <a:srgbClr val="38BDF8"/>
                </a:solidFill>
                <a:latin typeface="Consolas" pitchFamily="34" charset="0"/>
                <a:ea typeface="Consolas" pitchFamily="34" charset="-122"/>
                <a:cs typeface="Consolas" pitchFamily="34" charset="-120"/>
              </a:rPr>
              <a:t>Agent Loop</a:t>
            </a:r>
            <a:endParaRPr lang="en-US" sz="1400" dirty="0"/>
          </a:p>
        </p:txBody>
      </p:sp>
      <p:sp>
        <p:nvSpPr>
          <p:cNvPr id="6" name="Text 4"/>
          <p:cNvSpPr/>
          <p:nvPr/>
        </p:nvSpPr>
        <p:spPr>
          <a:xfrm>
            <a:off x="731520" y="2468880"/>
            <a:ext cx="2011680" cy="274320"/>
          </a:xfrm>
          <a:prstGeom prst="rect">
            <a:avLst/>
          </a:prstGeom>
          <a:noFill/>
          <a:ln/>
        </p:spPr>
        <p:txBody>
          <a:bodyPr wrap="square" lIns="0" tIns="0" rIns="0" bIns="0" rtlCol="0" anchor="ctr"/>
          <a:lstStyle/>
          <a:p>
            <a:pPr algn="ctr" indent="0" marL="0">
              <a:buNone/>
            </a:pPr>
            <a:r>
              <a:rPr lang="en-US" sz="1100" dirty="0">
                <a:solidFill>
                  <a:srgbClr val="B4BCD0"/>
                </a:solidFill>
                <a:latin typeface="Arial" pitchFamily="34" charset="0"/>
                <a:ea typeface="Arial" pitchFamily="34" charset="-122"/>
                <a:cs typeface="Arial" pitchFamily="34" charset="-120"/>
              </a:rPr>
              <a:t>writes JS code</a:t>
            </a:r>
            <a:endParaRPr lang="en-US" sz="1100" dirty="0"/>
          </a:p>
        </p:txBody>
      </p:sp>
      <p:sp>
        <p:nvSpPr>
          <p:cNvPr id="7" name="Text 5"/>
          <p:cNvSpPr/>
          <p:nvPr/>
        </p:nvSpPr>
        <p:spPr>
          <a:xfrm>
            <a:off x="2743200" y="2103120"/>
            <a:ext cx="548640" cy="457200"/>
          </a:xfrm>
          <a:prstGeom prst="rect">
            <a:avLst/>
          </a:prstGeom>
          <a:noFill/>
          <a:ln/>
        </p:spPr>
        <p:txBody>
          <a:bodyPr wrap="square" lIns="0" tIns="0" rIns="0" bIns="0" rtlCol="0" anchor="ctr"/>
          <a:lstStyle/>
          <a:p>
            <a:pPr algn="ctr" indent="0" marL="0">
              <a:buNone/>
            </a:pPr>
            <a:r>
              <a:rPr lang="en-US" sz="2400" dirty="0">
                <a:solidFill>
                  <a:srgbClr val="B4BCD0"/>
                </a:solidFill>
                <a:latin typeface="Arial" pitchFamily="34" charset="0"/>
                <a:ea typeface="Arial" pitchFamily="34" charset="-122"/>
                <a:cs typeface="Arial" pitchFamily="34" charset="-120"/>
              </a:rPr>
              <a:t>→</a:t>
            </a:r>
            <a:endParaRPr lang="en-US" sz="2400" dirty="0"/>
          </a:p>
        </p:txBody>
      </p:sp>
      <p:sp>
        <p:nvSpPr>
          <p:cNvPr id="8" name="Shape 6"/>
          <p:cNvSpPr/>
          <p:nvPr/>
        </p:nvSpPr>
        <p:spPr>
          <a:xfrm>
            <a:off x="3291840" y="1828800"/>
            <a:ext cx="2194560" cy="128016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Text 7"/>
          <p:cNvSpPr/>
          <p:nvPr/>
        </p:nvSpPr>
        <p:spPr>
          <a:xfrm>
            <a:off x="3291840" y="1965960"/>
            <a:ext cx="2194560" cy="365760"/>
          </a:xfrm>
          <a:prstGeom prst="rect">
            <a:avLst/>
          </a:prstGeom>
          <a:noFill/>
          <a:ln/>
        </p:spPr>
        <p:txBody>
          <a:bodyPr wrap="square" lIns="0" tIns="0" rIns="0" bIns="0" rtlCol="0" anchor="ctr"/>
          <a:lstStyle/>
          <a:p>
            <a:pPr algn="ctr" indent="0" marL="0">
              <a:buNone/>
            </a:pPr>
            <a:r>
              <a:rPr lang="en-US" sz="1400" b="1" dirty="0">
                <a:solidFill>
                  <a:srgbClr val="F59E0B"/>
                </a:solidFill>
                <a:latin typeface="Consolas" pitchFamily="34" charset="0"/>
                <a:ea typeface="Consolas" pitchFamily="34" charset="-122"/>
                <a:cs typeface="Consolas" pitchFamily="34" charset="-120"/>
              </a:rPr>
              <a:t>Node.js REPL</a:t>
            </a:r>
            <a:endParaRPr lang="en-US" sz="1400" dirty="0"/>
          </a:p>
        </p:txBody>
      </p:sp>
      <p:sp>
        <p:nvSpPr>
          <p:cNvPr id="10" name="Text 8"/>
          <p:cNvSpPr/>
          <p:nvPr/>
        </p:nvSpPr>
        <p:spPr>
          <a:xfrm>
            <a:off x="3291840" y="2377440"/>
            <a:ext cx="2194560" cy="457200"/>
          </a:xfrm>
          <a:prstGeom prst="rect">
            <a:avLst/>
          </a:prstGeom>
          <a:noFill/>
          <a:ln/>
        </p:spPr>
        <p:txBody>
          <a:bodyPr wrap="square" lIns="0" tIns="0" rIns="0" bIns="0" rtlCol="0" anchor="ctr"/>
          <a:lstStyle/>
          <a:p>
            <a:pPr algn="ctr" indent="0" marL="0">
              <a:buNone/>
            </a:pPr>
            <a:r>
              <a:rPr lang="en-US" sz="1100" dirty="0">
                <a:solidFill>
                  <a:srgbClr val="B4BCD0"/>
                </a:solidFill>
                <a:latin typeface="Arial" pitchFamily="34" charset="0"/>
                <a:ea typeface="Arial" pitchFamily="34" charset="-122"/>
                <a:cs typeface="Arial" pitchFamily="34" charset="-120"/>
              </a:rPr>
              <a:t>Variables persist</a:t>
            </a:r>
            <a:endParaRPr lang="en-US" sz="1100" dirty="0"/>
          </a:p>
          <a:p>
            <a:pPr algn="ctr" indent="0" marL="0">
              <a:buNone/>
            </a:pPr>
            <a:r>
              <a:rPr lang="en-US" sz="1100" dirty="0">
                <a:solidFill>
                  <a:srgbClr val="B4BCD0"/>
                </a:solidFill>
                <a:latin typeface="Arial" pitchFamily="34" charset="0"/>
                <a:ea typeface="Arial" pitchFamily="34" charset="-122"/>
                <a:cs typeface="Arial" pitchFamily="34" charset="-120"/>
              </a:rPr>
              <a:t>across calls</a:t>
            </a:r>
            <a:endParaRPr lang="en-US" sz="1100" dirty="0"/>
          </a:p>
        </p:txBody>
      </p:sp>
      <p:sp>
        <p:nvSpPr>
          <p:cNvPr id="11" name="Text 9"/>
          <p:cNvSpPr/>
          <p:nvPr/>
        </p:nvSpPr>
        <p:spPr>
          <a:xfrm>
            <a:off x="5486400" y="2103120"/>
            <a:ext cx="548640" cy="457200"/>
          </a:xfrm>
          <a:prstGeom prst="rect">
            <a:avLst/>
          </a:prstGeom>
          <a:noFill/>
          <a:ln/>
        </p:spPr>
        <p:txBody>
          <a:bodyPr wrap="square" lIns="0" tIns="0" rIns="0" bIns="0" rtlCol="0" anchor="ctr"/>
          <a:lstStyle/>
          <a:p>
            <a:pPr algn="ctr" indent="0" marL="0">
              <a:buNone/>
            </a:pPr>
            <a:r>
              <a:rPr lang="en-US" sz="2400" dirty="0">
                <a:solidFill>
                  <a:srgbClr val="B4BCD0"/>
                </a:solidFill>
                <a:latin typeface="Arial" pitchFamily="34" charset="0"/>
                <a:ea typeface="Arial" pitchFamily="34" charset="-122"/>
                <a:cs typeface="Arial" pitchFamily="34" charset="-120"/>
              </a:rPr>
              <a:t>→</a:t>
            </a:r>
            <a:endParaRPr lang="en-US" sz="2400" dirty="0"/>
          </a:p>
        </p:txBody>
      </p:sp>
      <p:sp>
        <p:nvSpPr>
          <p:cNvPr id="12" name="Shape 10"/>
          <p:cNvSpPr/>
          <p:nvPr/>
        </p:nvSpPr>
        <p:spPr>
          <a:xfrm>
            <a:off x="6035040" y="1828800"/>
            <a:ext cx="2377440" cy="128016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3" name="Text 11"/>
          <p:cNvSpPr/>
          <p:nvPr/>
        </p:nvSpPr>
        <p:spPr>
          <a:xfrm>
            <a:off x="6035040" y="1965960"/>
            <a:ext cx="2377440" cy="365760"/>
          </a:xfrm>
          <a:prstGeom prst="rect">
            <a:avLst/>
          </a:prstGeom>
          <a:noFill/>
          <a:ln/>
        </p:spPr>
        <p:txBody>
          <a:bodyPr wrap="square" lIns="0" tIns="0" rIns="0" bIns="0" rtlCol="0" anchor="ctr"/>
          <a:lstStyle/>
          <a:p>
            <a:pPr algn="ctr" indent="0" marL="0">
              <a:buNone/>
            </a:pPr>
            <a:r>
              <a:rPr lang="en-US" sz="1400" b="1" dirty="0">
                <a:solidFill>
                  <a:srgbClr val="34D399"/>
                </a:solidFill>
                <a:latin typeface="Consolas" pitchFamily="34" charset="0"/>
                <a:ea typeface="Consolas" pitchFamily="34" charset="-122"/>
                <a:cs typeface="Consolas" pitchFamily="34" charset="-120"/>
              </a:rPr>
              <a:t>.NET Engine</a:t>
            </a:r>
            <a:endParaRPr lang="en-US" sz="1400" dirty="0"/>
          </a:p>
        </p:txBody>
      </p:sp>
      <p:sp>
        <p:nvSpPr>
          <p:cNvPr id="14" name="Text 12"/>
          <p:cNvSpPr/>
          <p:nvPr/>
        </p:nvSpPr>
        <p:spPr>
          <a:xfrm>
            <a:off x="6035040" y="2377440"/>
            <a:ext cx="2377440" cy="457200"/>
          </a:xfrm>
          <a:prstGeom prst="rect">
            <a:avLst/>
          </a:prstGeom>
          <a:noFill/>
          <a:ln/>
        </p:spPr>
        <p:txBody>
          <a:bodyPr wrap="square" lIns="0" tIns="0" rIns="0" bIns="0" rtlCol="0" anchor="ctr"/>
          <a:lstStyle/>
          <a:p>
            <a:pPr algn="ctr" indent="0" marL="0">
              <a:buNone/>
            </a:pPr>
            <a:r>
              <a:rPr lang="en-US" sz="1100" dirty="0">
                <a:solidFill>
                  <a:srgbClr val="B4BCD0"/>
                </a:solidFill>
                <a:latin typeface="Arial" pitchFamily="34" charset="0"/>
                <a:ea typeface="Arial" pitchFamily="34" charset="-122"/>
                <a:cs typeface="Arial" pitchFamily="34" charset="-120"/>
              </a:rPr>
              <a:t>Workbook state</a:t>
            </a:r>
            <a:endParaRPr lang="en-US" sz="1100" dirty="0"/>
          </a:p>
          <a:p>
            <a:pPr algn="ctr" indent="0" marL="0">
              <a:buNone/>
            </a:pPr>
            <a:r>
              <a:rPr lang="en-US" sz="1100" dirty="0">
                <a:solidFill>
                  <a:srgbClr val="B4BCD0"/>
                </a:solidFill>
                <a:latin typeface="Arial" pitchFamily="34" charset="0"/>
                <a:ea typeface="Arial" pitchFamily="34" charset="-122"/>
                <a:cs typeface="Arial" pitchFamily="34" charset="-120"/>
              </a:rPr>
              <a:t>persists</a:t>
            </a:r>
            <a:endParaRPr lang="en-US" sz="1100" dirty="0"/>
          </a:p>
        </p:txBody>
      </p:sp>
      <p:sp>
        <p:nvSpPr>
          <p:cNvPr id="15" name="Text 13"/>
          <p:cNvSpPr/>
          <p:nvPr/>
        </p:nvSpPr>
        <p:spPr>
          <a:xfrm>
            <a:off x="3291840" y="3200400"/>
            <a:ext cx="5120640" cy="274320"/>
          </a:xfrm>
          <a:prstGeom prst="rect">
            <a:avLst/>
          </a:prstGeom>
          <a:noFill/>
          <a:ln/>
        </p:spPr>
        <p:txBody>
          <a:bodyPr wrap="square" lIns="0" tIns="0" rIns="0" bIns="0" rtlCol="0" anchor="ctr"/>
          <a:lstStyle/>
          <a:p>
            <a:pPr algn="ctr" indent="0" marL="0">
              <a:buNone/>
            </a:pPr>
            <a:r>
              <a:rPr lang="en-US" sz="1000" dirty="0">
                <a:solidFill>
                  <a:srgbClr val="B4BCD0"/>
                </a:solidFill>
                <a:latin typeface="Consolas" pitchFamily="34" charset="0"/>
                <a:ea typeface="Consolas" pitchFamily="34" charset="-122"/>
                <a:cs typeface="Consolas" pitchFamily="34" charset="-120"/>
              </a:rPr>
              <a:t>JSON-RPC over stdio</a:t>
            </a:r>
            <a:endParaRPr lang="en-US" sz="1000" dirty="0"/>
          </a:p>
        </p:txBody>
      </p:sp>
      <p:sp>
        <p:nvSpPr>
          <p:cNvPr id="16" name="Text 14"/>
          <p:cNvSpPr/>
          <p:nvPr/>
        </p:nvSpPr>
        <p:spPr>
          <a:xfrm>
            <a:off x="731520" y="3840480"/>
            <a:ext cx="7680960" cy="365760"/>
          </a:xfrm>
          <a:prstGeom prst="rect">
            <a:avLst/>
          </a:prstGeom>
          <a:noFill/>
          <a:ln/>
        </p:spPr>
        <p:txBody>
          <a:bodyPr wrap="square" lIns="0" tIns="0" rIns="0" bIns="0" rtlCol="0" anchor="ctr"/>
          <a:lstStyle/>
          <a:p>
            <a:pPr indent="0" marL="0">
              <a:buNone/>
            </a:pPr>
            <a:r>
              <a:rPr lang="en-US" sz="1100" dirty="0">
                <a:solidFill>
                  <a:srgbClr val="B4BCD0"/>
                </a:solidFill>
                <a:latin typeface="Consolas" pitchFamily="34" charset="0"/>
                <a:ea typeface="Consolas" pitchFamily="34" charset="-122"/>
                <a:cs typeface="Consolas" pitchFamily="34" charset="-120"/>
              </a:rPr>
              <a:t>30+ functions: listSheets, findCells, readRange, traceToInputs, setCells, evaluateFormula ...</a:t>
            </a:r>
            <a:endParaRPr lang="en-US" sz="1100" dirty="0"/>
          </a:p>
        </p:txBody>
      </p:sp>
      <p:sp>
        <p:nvSpPr>
          <p:cNvPr id="17" name="Text 15"/>
          <p:cNvSpPr/>
          <p:nvPr/>
        </p:nvSpPr>
        <p:spPr>
          <a:xfrm>
            <a:off x="731520" y="4206240"/>
            <a:ext cx="7680960" cy="274320"/>
          </a:xfrm>
          <a:prstGeom prst="rect">
            <a:avLst/>
          </a:prstGeom>
          <a:noFill/>
          <a:ln/>
        </p:spPr>
        <p:txBody>
          <a:bodyPr wrap="square" lIns="0" tIns="0" rIns="0" bIns="0" rtlCol="0" anchor="ctr"/>
          <a:lstStyle/>
          <a:p>
            <a:pPr indent="0" marL="0">
              <a:buNone/>
            </a:pPr>
            <a:r>
              <a:rPr lang="en-US" sz="1100" i="1" dirty="0">
                <a:solidFill>
                  <a:srgbClr val="B4BCD0"/>
                </a:solidFill>
                <a:latin typeface="Arial" pitchFamily="34" charset="0"/>
                <a:ea typeface="Arial" pitchFamily="34" charset="-122"/>
                <a:cs typeface="Arial" pitchFamily="34" charset="-120"/>
              </a:rPr>
              <a:t>Sandboxed: no filesystem, no network, no subprocesses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Before vs. After</a:t>
            </a:r>
            <a:endParaRPr lang="en-US" sz="2800" dirty="0"/>
          </a:p>
        </p:txBody>
      </p:sp>
      <p:sp>
        <p:nvSpPr>
          <p:cNvPr id="3" name="Text 1"/>
          <p:cNvSpPr/>
          <p:nvPr/>
        </p:nvSpPr>
        <p:spPr>
          <a:xfrm>
            <a:off x="731520" y="1051560"/>
            <a:ext cx="1371600" cy="320040"/>
          </a:xfrm>
          <a:prstGeom prst="rect">
            <a:avLst/>
          </a:prstGeom>
          <a:noFill/>
          <a:ln/>
        </p:spPr>
        <p:txBody>
          <a:bodyPr wrap="square" lIns="0" tIns="0" rIns="0" bIns="0" rtlCol="0" anchor="ctr"/>
          <a:lstStyle/>
          <a:p>
            <a:pPr indent="0" marL="0">
              <a:buNone/>
            </a:pPr>
            <a:r>
              <a:rPr lang="en-US" sz="1200" b="1" dirty="0">
                <a:solidFill>
                  <a:srgbClr val="F87171"/>
                </a:solidFill>
                <a:latin typeface="Consolas" pitchFamily="34" charset="0"/>
                <a:ea typeface="Consolas" pitchFamily="34" charset="-122"/>
                <a:cs typeface="Consolas" pitchFamily="34" charset="-120"/>
              </a:rPr>
              <a:t>BEFORE</a:t>
            </a:r>
            <a:endParaRPr lang="en-US" sz="1200" dirty="0"/>
          </a:p>
        </p:txBody>
      </p:sp>
      <p:sp>
        <p:nvSpPr>
          <p:cNvPr id="4" name="Text 2"/>
          <p:cNvSpPr/>
          <p:nvPr/>
        </p:nvSpPr>
        <p:spPr>
          <a:xfrm>
            <a:off x="2103120" y="1051560"/>
            <a:ext cx="1828800" cy="32004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10-15 tool calls</a:t>
            </a:r>
            <a:endParaRPr lang="en-US" sz="1200" dirty="0"/>
          </a:p>
        </p:txBody>
      </p:sp>
      <p:sp>
        <p:nvSpPr>
          <p:cNvPr id="5" name="Shape 3"/>
          <p:cNvSpPr/>
          <p:nvPr/>
        </p:nvSpPr>
        <p:spPr>
          <a:xfrm>
            <a:off x="731520" y="1417320"/>
            <a:ext cx="3657600" cy="2194560"/>
          </a:xfrm>
          <a:prstGeom prst="rect">
            <a:avLst>
              <a:gd name="adj" fmla="val 2083"/>
            </a:avLst>
          </a:prstGeom>
          <a:solidFill>
            <a:srgbClr val="282D3F"/>
          </a:solidFill>
          <a:ln/>
        </p:spPr>
      </p:sp>
      <p:sp>
        <p:nvSpPr>
          <p:cNvPr id="6" name="Text 4"/>
          <p:cNvSpPr/>
          <p:nvPr/>
        </p:nvSpPr>
        <p:spPr>
          <a:xfrm>
            <a:off x="914400" y="1554480"/>
            <a:ext cx="3291840" cy="1920240"/>
          </a:xfrm>
          <a:prstGeom prst="rect">
            <a:avLst/>
          </a:prstGeom>
          <a:noFill/>
          <a:ln/>
        </p:spPr>
        <p:txBody>
          <a:bodyPr wrap="square" lIns="0" tIns="0" rIns="0" bIns="0" rtlCol="0" anchor="t"/>
          <a:lstStyle/>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Tool call 1: list_sheets()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 ["Summary", "Data", "Inputs"]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Tool call 2: read_range("Summary!A1:D10")</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 cell values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Tool call 3: find_cells("Revenue")</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 [matches]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Tool call 4: read_cell("Summary!C10")</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 "$1,234,567"</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a:t>
            </a:r>
            <a:endParaRPr lang="en-US" sz="1000" dirty="0"/>
          </a:p>
        </p:txBody>
      </p:sp>
      <p:sp>
        <p:nvSpPr>
          <p:cNvPr id="7" name="Text 5"/>
          <p:cNvSpPr/>
          <p:nvPr/>
        </p:nvSpPr>
        <p:spPr>
          <a:xfrm>
            <a:off x="4754880" y="1051560"/>
            <a:ext cx="1371600" cy="320040"/>
          </a:xfrm>
          <a:prstGeom prst="rect">
            <a:avLst/>
          </a:prstGeom>
          <a:noFill/>
          <a:ln/>
        </p:spPr>
        <p:txBody>
          <a:bodyPr wrap="square" lIns="0" tIns="0" rIns="0" bIns="0" rtlCol="0" anchor="ctr"/>
          <a:lstStyle/>
          <a:p>
            <a:pPr indent="0" marL="0">
              <a:buNone/>
            </a:pPr>
            <a:r>
              <a:rPr lang="en-US" sz="1200" b="1" dirty="0">
                <a:solidFill>
                  <a:srgbClr val="34D399"/>
                </a:solidFill>
                <a:latin typeface="Consolas" pitchFamily="34" charset="0"/>
                <a:ea typeface="Consolas" pitchFamily="34" charset="-122"/>
                <a:cs typeface="Consolas" pitchFamily="34" charset="-120"/>
              </a:rPr>
              <a:t>AFTER</a:t>
            </a:r>
            <a:endParaRPr lang="en-US" sz="1200" dirty="0"/>
          </a:p>
        </p:txBody>
      </p:sp>
      <p:sp>
        <p:nvSpPr>
          <p:cNvPr id="8" name="Text 6"/>
          <p:cNvSpPr/>
          <p:nvPr/>
        </p:nvSpPr>
        <p:spPr>
          <a:xfrm>
            <a:off x="5943600" y="1051560"/>
            <a:ext cx="1828800" cy="32004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1 tool call</a:t>
            </a:r>
            <a:endParaRPr lang="en-US" sz="1200" dirty="0"/>
          </a:p>
        </p:txBody>
      </p:sp>
      <p:sp>
        <p:nvSpPr>
          <p:cNvPr id="9" name="Shape 7"/>
          <p:cNvSpPr/>
          <p:nvPr/>
        </p:nvSpPr>
        <p:spPr>
          <a:xfrm>
            <a:off x="4754880" y="1417320"/>
            <a:ext cx="3657600" cy="2194560"/>
          </a:xfrm>
          <a:prstGeom prst="rect">
            <a:avLst>
              <a:gd name="adj" fmla="val 2083"/>
            </a:avLst>
          </a:prstGeom>
          <a:solidFill>
            <a:srgbClr val="282D3F"/>
          </a:solidFill>
          <a:ln/>
        </p:spPr>
      </p:sp>
      <p:sp>
        <p:nvSpPr>
          <p:cNvPr id="10" name="Text 8"/>
          <p:cNvSpPr/>
          <p:nvPr/>
        </p:nvSpPr>
        <p:spPr>
          <a:xfrm>
            <a:off x="4937760" y="1554480"/>
            <a:ext cx="3291840" cy="1920240"/>
          </a:xfrm>
          <a:prstGeom prst="rect">
            <a:avLst/>
          </a:prstGeom>
          <a:noFill/>
          <a:ln/>
        </p:spPr>
        <p:txBody>
          <a:bodyPr wrap="square" lIns="0" tIns="0" rIns="0" bIns="0" rtlCol="0" anchor="t"/>
          <a:lstStyle/>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const sheets = await xlsx.listSheets(wb);</a:t>
            </a:r>
            <a:endParaRPr lang="en-US" sz="1000" dirty="0"/>
          </a:p>
          <a:p>
            <a:pPr indent="0" marL="0">
              <a:lnSpc>
                <a:spcPct val="130000"/>
              </a:lnSpc>
              <a:buNone/>
            </a:pP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const summary = await xlsx.readRangeTsv(</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wb, `${sheets[0].name}!A1:D10`</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indent="0" marL="0">
              <a:lnSpc>
                <a:spcPct val="130000"/>
              </a:lnSpc>
              <a:buNone/>
            </a:pP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const revenue = await xlsx.findCells(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wb, "Revenue", { context: 1 }</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a:t>
            </a:r>
            <a:endParaRPr lang="en-US" sz="1000" dirty="0"/>
          </a:p>
          <a:p>
            <a:pPr indent="0" marL="0">
              <a:lnSpc>
                <a:spcPct val="130000"/>
              </a:lnSpc>
              <a:buNone/>
            </a:pP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console.log(sheets, summary, revenue);</a:t>
            </a:r>
            <a:endParaRPr lang="en-US" sz="1000" dirty="0"/>
          </a:p>
        </p:txBody>
      </p:sp>
      <p:sp>
        <p:nvSpPr>
          <p:cNvPr id="11" name="Text 9"/>
          <p:cNvSpPr/>
          <p:nvPr/>
        </p:nvSpPr>
        <p:spPr>
          <a:xfrm>
            <a:off x="731520" y="3931920"/>
            <a:ext cx="7680960" cy="3657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One call, three operations, all results visible together.</a:t>
            </a:r>
            <a:endParaRPr lang="en-US" sz="1600" dirty="0"/>
          </a:p>
        </p:txBody>
      </p:sp>
      <p:sp>
        <p:nvSpPr>
          <p:cNvPr id="12" name="Text 10"/>
          <p:cNvSpPr/>
          <p:nvPr/>
        </p:nvSpPr>
        <p:spPr>
          <a:xfrm>
            <a:off x="731520" y="4297680"/>
            <a:ext cx="7680960" cy="365760"/>
          </a:xfrm>
          <a:prstGeom prst="rect">
            <a:avLst/>
          </a:prstGeom>
          <a:noFill/>
          <a:ln/>
        </p:spPr>
        <p:txBody>
          <a:bodyPr wrap="square" lIns="0" tIns="0" rIns="0" bIns="0" rtlCol="0" anchor="ctr"/>
          <a:lstStyle/>
          <a:p>
            <a:pPr indent="0" marL="0">
              <a:buNone/>
            </a:pPr>
            <a:r>
              <a:rPr lang="en-US" sz="1400" i="1" dirty="0">
                <a:solidFill>
                  <a:srgbClr val="B4BCD0"/>
                </a:solidFill>
                <a:latin typeface="Arial" pitchFamily="34" charset="0"/>
                <a:ea typeface="Arial" pitchFamily="34" charset="-122"/>
                <a:cs typeface="Arial" pitchFamily="34" charset="-120"/>
              </a:rPr>
              <a:t>But it goes further than just batching.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Why the REPL actually worked</a:t>
            </a:r>
            <a:endParaRPr lang="en-US" sz="2800" dirty="0"/>
          </a:p>
        </p:txBody>
      </p:sp>
      <p:sp>
        <p:nvSpPr>
          <p:cNvPr id="3" name="Shape 1"/>
          <p:cNvSpPr/>
          <p:nvPr/>
        </p:nvSpPr>
        <p:spPr>
          <a:xfrm>
            <a:off x="731520" y="1234440"/>
            <a:ext cx="365760" cy="365760"/>
          </a:xfrm>
          <a:prstGeom prst="ellipse">
            <a:avLst/>
          </a:prstGeom>
          <a:solidFill>
            <a:srgbClr val="38BDF8">
              <a:alpha val="20000"/>
            </a:srgbClr>
          </a:solidFill>
          <a:ln/>
        </p:spPr>
      </p:sp>
      <p:sp>
        <p:nvSpPr>
          <p:cNvPr id="4" name="Text 2"/>
          <p:cNvSpPr/>
          <p:nvPr/>
        </p:nvSpPr>
        <p:spPr>
          <a:xfrm>
            <a:off x="731520" y="1234440"/>
            <a:ext cx="365760" cy="365760"/>
          </a:xfrm>
          <a:prstGeom prst="rect">
            <a:avLst/>
          </a:prstGeom>
          <a:noFill/>
          <a:ln/>
        </p:spPr>
        <p:txBody>
          <a:bodyPr wrap="square" lIns="0" tIns="0" rIns="0" bIns="0" rtlCol="0" anchor="ctr"/>
          <a:lstStyle/>
          <a:p>
            <a:pPr algn="ctr" indent="0" marL="0">
              <a:buNone/>
            </a:pPr>
            <a:r>
              <a:rPr lang="en-US" sz="1400" b="1" dirty="0">
                <a:solidFill>
                  <a:srgbClr val="38BDF8"/>
                </a:solidFill>
                <a:latin typeface="Consolas" pitchFamily="34" charset="0"/>
                <a:ea typeface="Consolas" pitchFamily="34" charset="-122"/>
                <a:cs typeface="Consolas" pitchFamily="34" charset="-120"/>
              </a:rPr>
              <a:t>1</a:t>
            </a:r>
            <a:endParaRPr lang="en-US" sz="1400" dirty="0"/>
          </a:p>
        </p:txBody>
      </p:sp>
      <p:sp>
        <p:nvSpPr>
          <p:cNvPr id="5" name="Text 3"/>
          <p:cNvSpPr/>
          <p:nvPr/>
        </p:nvSpPr>
        <p:spPr>
          <a:xfrm>
            <a:off x="1234440" y="1188720"/>
            <a:ext cx="3200400" cy="320040"/>
          </a:xfrm>
          <a:prstGeom prst="rect">
            <a:avLst/>
          </a:prstGeom>
          <a:noFill/>
          <a:ln/>
        </p:spPr>
        <p:txBody>
          <a:bodyPr wrap="square" lIns="0" tIns="0" rIns="0" bIns="0" rtlCol="0" anchor="ctr"/>
          <a:lstStyle/>
          <a:p>
            <a:pPr indent="0" marL="0">
              <a:buNone/>
            </a:pPr>
            <a:r>
              <a:rPr lang="en-US" sz="1500" b="1" dirty="0">
                <a:solidFill>
                  <a:srgbClr val="38BDF8"/>
                </a:solidFill>
                <a:latin typeface="Consolas" pitchFamily="34" charset="0"/>
                <a:ea typeface="Consolas" pitchFamily="34" charset="-122"/>
                <a:cs typeface="Consolas" pitchFamily="34" charset="-120"/>
              </a:rPr>
              <a:t>Composability</a:t>
            </a:r>
            <a:endParaRPr lang="en-US" sz="1500" dirty="0"/>
          </a:p>
        </p:txBody>
      </p:sp>
      <p:sp>
        <p:nvSpPr>
          <p:cNvPr id="6" name="Text 4"/>
          <p:cNvSpPr/>
          <p:nvPr/>
        </p:nvSpPr>
        <p:spPr>
          <a:xfrm>
            <a:off x="1234440" y="1554480"/>
            <a:ext cx="3200400" cy="64008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Multiple operations per call,</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results feed into each other</a:t>
            </a:r>
            <a:endParaRPr lang="en-US" sz="1200" dirty="0"/>
          </a:p>
        </p:txBody>
      </p:sp>
      <p:sp>
        <p:nvSpPr>
          <p:cNvPr id="7" name="Shape 5"/>
          <p:cNvSpPr/>
          <p:nvPr/>
        </p:nvSpPr>
        <p:spPr>
          <a:xfrm>
            <a:off x="4846320" y="1234440"/>
            <a:ext cx="365760" cy="365760"/>
          </a:xfrm>
          <a:prstGeom prst="ellipse">
            <a:avLst/>
          </a:prstGeom>
          <a:solidFill>
            <a:srgbClr val="F59E0B">
              <a:alpha val="20000"/>
            </a:srgbClr>
          </a:solidFill>
          <a:ln/>
        </p:spPr>
      </p:sp>
      <p:sp>
        <p:nvSpPr>
          <p:cNvPr id="8" name="Text 6"/>
          <p:cNvSpPr/>
          <p:nvPr/>
        </p:nvSpPr>
        <p:spPr>
          <a:xfrm>
            <a:off x="4846320" y="1234440"/>
            <a:ext cx="365760" cy="365760"/>
          </a:xfrm>
          <a:prstGeom prst="rect">
            <a:avLst/>
          </a:prstGeom>
          <a:noFill/>
          <a:ln/>
        </p:spPr>
        <p:txBody>
          <a:bodyPr wrap="square" lIns="0" tIns="0" rIns="0" bIns="0" rtlCol="0" anchor="ctr"/>
          <a:lstStyle/>
          <a:p>
            <a:pPr algn="ctr" indent="0" marL="0">
              <a:buNone/>
            </a:pPr>
            <a:r>
              <a:rPr lang="en-US" sz="1400" b="1" dirty="0">
                <a:solidFill>
                  <a:srgbClr val="F59E0B"/>
                </a:solidFill>
                <a:latin typeface="Consolas" pitchFamily="34" charset="0"/>
                <a:ea typeface="Consolas" pitchFamily="34" charset="-122"/>
                <a:cs typeface="Consolas" pitchFamily="34" charset="-120"/>
              </a:rPr>
              <a:t>2</a:t>
            </a:r>
            <a:endParaRPr lang="en-US" sz="1400" dirty="0"/>
          </a:p>
        </p:txBody>
      </p:sp>
      <p:sp>
        <p:nvSpPr>
          <p:cNvPr id="9" name="Text 7"/>
          <p:cNvSpPr/>
          <p:nvPr/>
        </p:nvSpPr>
        <p:spPr>
          <a:xfrm>
            <a:off x="5349240" y="1188720"/>
            <a:ext cx="3200400" cy="320040"/>
          </a:xfrm>
          <a:prstGeom prst="rect">
            <a:avLst/>
          </a:prstGeom>
          <a:noFill/>
          <a:ln/>
        </p:spPr>
        <p:txBody>
          <a:bodyPr wrap="square" lIns="0" tIns="0" rIns="0" bIns="0" rtlCol="0" anchor="ctr"/>
          <a:lstStyle/>
          <a:p>
            <a:pPr indent="0" marL="0">
              <a:buNone/>
            </a:pPr>
            <a:r>
              <a:rPr lang="en-US" sz="1500" b="1" dirty="0">
                <a:solidFill>
                  <a:srgbClr val="F59E0B"/>
                </a:solidFill>
                <a:latin typeface="Consolas" pitchFamily="34" charset="0"/>
                <a:ea typeface="Consolas" pitchFamily="34" charset="-122"/>
                <a:cs typeface="Consolas" pitchFamily="34" charset="-120"/>
              </a:rPr>
              <a:t>State persistence</a:t>
            </a:r>
            <a:endParaRPr lang="en-US" sz="1500" dirty="0"/>
          </a:p>
        </p:txBody>
      </p:sp>
      <p:sp>
        <p:nvSpPr>
          <p:cNvPr id="10" name="Text 8"/>
          <p:cNvSpPr/>
          <p:nvPr/>
        </p:nvSpPr>
        <p:spPr>
          <a:xfrm>
            <a:off x="5349240" y="1554480"/>
            <a:ext cx="3200400" cy="64008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Variables survive across calls,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build understanding incrementally</a:t>
            </a:r>
            <a:endParaRPr lang="en-US" sz="1200" dirty="0"/>
          </a:p>
        </p:txBody>
      </p:sp>
      <p:sp>
        <p:nvSpPr>
          <p:cNvPr id="11" name="Shape 9"/>
          <p:cNvSpPr/>
          <p:nvPr/>
        </p:nvSpPr>
        <p:spPr>
          <a:xfrm>
            <a:off x="731520" y="2560320"/>
            <a:ext cx="365760" cy="365760"/>
          </a:xfrm>
          <a:prstGeom prst="ellipse">
            <a:avLst/>
          </a:prstGeom>
          <a:solidFill>
            <a:srgbClr val="34D399">
              <a:alpha val="20000"/>
            </a:srgbClr>
          </a:solidFill>
          <a:ln/>
        </p:spPr>
      </p:sp>
      <p:sp>
        <p:nvSpPr>
          <p:cNvPr id="12" name="Text 10"/>
          <p:cNvSpPr/>
          <p:nvPr/>
        </p:nvSpPr>
        <p:spPr>
          <a:xfrm>
            <a:off x="731520" y="2560320"/>
            <a:ext cx="365760" cy="365760"/>
          </a:xfrm>
          <a:prstGeom prst="rect">
            <a:avLst/>
          </a:prstGeom>
          <a:noFill/>
          <a:ln/>
        </p:spPr>
        <p:txBody>
          <a:bodyPr wrap="square" lIns="0" tIns="0" rIns="0" bIns="0" rtlCol="0" anchor="ctr"/>
          <a:lstStyle/>
          <a:p>
            <a:pPr algn="ctr" indent="0" marL="0">
              <a:buNone/>
            </a:pPr>
            <a:r>
              <a:rPr lang="en-US" sz="1400" b="1" dirty="0">
                <a:solidFill>
                  <a:srgbClr val="34D399"/>
                </a:solidFill>
                <a:latin typeface="Consolas" pitchFamily="34" charset="0"/>
                <a:ea typeface="Consolas" pitchFamily="34" charset="-122"/>
                <a:cs typeface="Consolas" pitchFamily="34" charset="-120"/>
              </a:rPr>
              <a:t>3</a:t>
            </a:r>
            <a:endParaRPr lang="en-US" sz="1400" dirty="0"/>
          </a:p>
        </p:txBody>
      </p:sp>
      <p:sp>
        <p:nvSpPr>
          <p:cNvPr id="13" name="Text 11"/>
          <p:cNvSpPr/>
          <p:nvPr/>
        </p:nvSpPr>
        <p:spPr>
          <a:xfrm>
            <a:off x="1234440" y="2514600"/>
            <a:ext cx="3200400" cy="320040"/>
          </a:xfrm>
          <a:prstGeom prst="rect">
            <a:avLst/>
          </a:prstGeom>
          <a:noFill/>
          <a:ln/>
        </p:spPr>
        <p:txBody>
          <a:bodyPr wrap="square" lIns="0" tIns="0" rIns="0" bIns="0" rtlCol="0" anchor="ctr"/>
          <a:lstStyle/>
          <a:p>
            <a:pPr indent="0" marL="0">
              <a:buNone/>
            </a:pPr>
            <a:r>
              <a:rPr lang="en-US" sz="1500" b="1" dirty="0">
                <a:solidFill>
                  <a:srgbClr val="34D399"/>
                </a:solidFill>
                <a:latin typeface="Consolas" pitchFamily="34" charset="0"/>
                <a:ea typeface="Consolas" pitchFamily="34" charset="-122"/>
                <a:cs typeface="Consolas" pitchFamily="34" charset="-120"/>
              </a:rPr>
              <a:t>Flexible exploration</a:t>
            </a:r>
            <a:endParaRPr lang="en-US" sz="1500" dirty="0"/>
          </a:p>
        </p:txBody>
      </p:sp>
      <p:sp>
        <p:nvSpPr>
          <p:cNvPr id="14" name="Text 12"/>
          <p:cNvSpPr/>
          <p:nvPr/>
        </p:nvSpPr>
        <p:spPr>
          <a:xfrm>
            <a:off x="1234440" y="2880360"/>
            <a:ext cx="3200400" cy="64008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Conditionals, loops, error recovery</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 in a single tool call</a:t>
            </a:r>
            <a:endParaRPr lang="en-US" sz="1200" dirty="0"/>
          </a:p>
        </p:txBody>
      </p:sp>
      <p:sp>
        <p:nvSpPr>
          <p:cNvPr id="15" name="Shape 13"/>
          <p:cNvSpPr/>
          <p:nvPr/>
        </p:nvSpPr>
        <p:spPr>
          <a:xfrm>
            <a:off x="4846320" y="2560320"/>
            <a:ext cx="365760" cy="365760"/>
          </a:xfrm>
          <a:prstGeom prst="ellipse">
            <a:avLst/>
          </a:prstGeom>
          <a:solidFill>
            <a:srgbClr val="FFFFFF">
              <a:alpha val="20000"/>
            </a:srgbClr>
          </a:solidFill>
          <a:ln/>
        </p:spPr>
      </p:sp>
      <p:sp>
        <p:nvSpPr>
          <p:cNvPr id="16" name="Text 14"/>
          <p:cNvSpPr/>
          <p:nvPr/>
        </p:nvSpPr>
        <p:spPr>
          <a:xfrm>
            <a:off x="4846320" y="25603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4</a:t>
            </a:r>
            <a:endParaRPr lang="en-US" sz="1400" dirty="0"/>
          </a:p>
        </p:txBody>
      </p:sp>
      <p:sp>
        <p:nvSpPr>
          <p:cNvPr id="17" name="Text 15"/>
          <p:cNvSpPr/>
          <p:nvPr/>
        </p:nvSpPr>
        <p:spPr>
          <a:xfrm>
            <a:off x="5349240" y="2514600"/>
            <a:ext cx="3200400" cy="32004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Trivial API evolution</a:t>
            </a:r>
            <a:endParaRPr lang="en-US" sz="1500" dirty="0"/>
          </a:p>
        </p:txBody>
      </p:sp>
      <p:sp>
        <p:nvSpPr>
          <p:cNvPr id="18" name="Text 16"/>
          <p:cNvSpPr/>
          <p:nvPr/>
        </p:nvSpPr>
        <p:spPr>
          <a:xfrm>
            <a:off x="5349240" y="2880360"/>
            <a:ext cx="3200400" cy="64008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Add a function, agent uses it.</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No tool-layer plumbing.</a:t>
            </a:r>
            <a:endParaRPr lang="en-US" sz="1200" dirty="0"/>
          </a:p>
        </p:txBody>
      </p:sp>
      <p:sp>
        <p:nvSpPr>
          <p:cNvPr id="19" name="Shape 17"/>
          <p:cNvSpPr/>
          <p:nvPr/>
        </p:nvSpPr>
        <p:spPr>
          <a:xfrm>
            <a:off x="731520" y="3657600"/>
            <a:ext cx="7680960" cy="1097280"/>
          </a:xfrm>
          <a:prstGeom prst="rect">
            <a:avLst>
              <a:gd name="adj" fmla="val 4167"/>
            </a:avLst>
          </a:prstGeom>
          <a:solidFill>
            <a:srgbClr val="282D3F"/>
          </a:solidFill>
          <a:ln/>
        </p:spPr>
      </p:sp>
      <p:sp>
        <p:nvSpPr>
          <p:cNvPr id="20" name="Text 18"/>
          <p:cNvSpPr/>
          <p:nvPr/>
        </p:nvSpPr>
        <p:spPr>
          <a:xfrm>
            <a:off x="914400" y="3794760"/>
            <a:ext cx="7315200" cy="822960"/>
          </a:xfrm>
          <a:prstGeom prst="rect">
            <a:avLst/>
          </a:prstGeom>
          <a:noFill/>
          <a:ln/>
        </p:spPr>
        <p:txBody>
          <a:bodyPr wrap="square" lIns="0" tIns="0" rIns="0" bIns="0" rtlCol="0" anchor="t"/>
          <a:lstStyle/>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let results = await xlsx.findCells(wb, "Net Revenue");</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if (!results.length)</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results = await xlsx.findCells(</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wb, ["Total Revenue", "Net Sales", "Revenue"]</a:t>
            </a:r>
            <a:endParaRPr lang="en-US" sz="1000" dirty="0"/>
          </a:p>
          <a:p>
            <a:pPr indent="0" marL="0">
              <a:lnSpc>
                <a:spcPct val="130000"/>
              </a:lnSpc>
              <a:buNone/>
            </a:pPr>
            <a:r>
              <a:rPr lang="en-US" sz="1000" dirty="0">
                <a:solidFill>
                  <a:srgbClr val="E2E8F0"/>
                </a:solidFill>
                <a:latin typeface="Consolas" pitchFamily="34" charset="0"/>
                <a:ea typeface="Consolas" pitchFamily="34" charset="-122"/>
                <a:cs typeface="Consolas" pitchFamily="34" charset="-120"/>
              </a:rPr>
              <a:t>  );</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Three hard rules</a:t>
            </a:r>
            <a:endParaRPr lang="en-US" sz="2800" dirty="0"/>
          </a:p>
        </p:txBody>
      </p:sp>
      <p:sp>
        <p:nvSpPr>
          <p:cNvPr id="3" name="Text 1"/>
          <p:cNvSpPr/>
          <p:nvPr/>
        </p:nvSpPr>
        <p:spPr>
          <a:xfrm>
            <a:off x="731520" y="960120"/>
            <a:ext cx="7680960" cy="36576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Each one a scar from a previous failure. Embedded in the system prompt.</a:t>
            </a:r>
            <a:endParaRPr lang="en-US" sz="1400" dirty="0"/>
          </a:p>
        </p:txBody>
      </p:sp>
      <p:sp>
        <p:nvSpPr>
          <p:cNvPr id="4" name="Shape 2"/>
          <p:cNvSpPr/>
          <p:nvPr/>
        </p:nvSpPr>
        <p:spPr>
          <a:xfrm>
            <a:off x="731520" y="1463040"/>
            <a:ext cx="7680960" cy="8686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5" name="Text 3"/>
          <p:cNvSpPr/>
          <p:nvPr/>
        </p:nvSpPr>
        <p:spPr>
          <a:xfrm>
            <a:off x="914400" y="1600200"/>
            <a:ext cx="457200" cy="457200"/>
          </a:xfrm>
          <a:prstGeom prst="rect">
            <a:avLst/>
          </a:prstGeom>
          <a:noFill/>
          <a:ln/>
        </p:spPr>
        <p:txBody>
          <a:bodyPr wrap="square" lIns="0" tIns="0" rIns="0" bIns="0" rtlCol="0" anchor="ctr"/>
          <a:lstStyle/>
          <a:p>
            <a:pPr algn="ctr" indent="0" marL="0">
              <a:buNone/>
            </a:pPr>
            <a:r>
              <a:rPr lang="en-US" sz="2400" b="1" dirty="0">
                <a:solidFill>
                  <a:srgbClr val="F87171"/>
                </a:solidFill>
                <a:latin typeface="Consolas" pitchFamily="34" charset="0"/>
                <a:ea typeface="Consolas" pitchFamily="34" charset="-122"/>
                <a:cs typeface="Consolas" pitchFamily="34" charset="-120"/>
              </a:rPr>
              <a:t>1</a:t>
            </a:r>
            <a:endParaRPr lang="en-US" sz="2400" dirty="0"/>
          </a:p>
        </p:txBody>
      </p:sp>
      <p:sp>
        <p:nvSpPr>
          <p:cNvPr id="6" name="Text 4"/>
          <p:cNvSpPr/>
          <p:nvPr/>
        </p:nvSpPr>
        <p:spPr>
          <a:xfrm>
            <a:off x="1463040" y="1572768"/>
            <a:ext cx="6583680" cy="32004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"Zero new formula errors"</a:t>
            </a:r>
            <a:endParaRPr lang="en-US" sz="1500" dirty="0"/>
          </a:p>
        </p:txBody>
      </p:sp>
      <p:sp>
        <p:nvSpPr>
          <p:cNvPr id="7" name="Text 5"/>
          <p:cNvSpPr/>
          <p:nvPr/>
        </p:nvSpPr>
        <p:spPr>
          <a:xfrm>
            <a:off x="1463040" y="1901952"/>
            <a:ext cx="6583680" cy="36576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After every write, check for errors.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If your edit broke a formula, fix it before moving on.</a:t>
            </a:r>
            <a:endParaRPr lang="en-US" sz="1200" dirty="0"/>
          </a:p>
        </p:txBody>
      </p:sp>
      <p:sp>
        <p:nvSpPr>
          <p:cNvPr id="8" name="Shape 6"/>
          <p:cNvSpPr/>
          <p:nvPr/>
        </p:nvSpPr>
        <p:spPr>
          <a:xfrm>
            <a:off x="731520" y="2514600"/>
            <a:ext cx="7680960" cy="8686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Text 7"/>
          <p:cNvSpPr/>
          <p:nvPr/>
        </p:nvSpPr>
        <p:spPr>
          <a:xfrm>
            <a:off x="914400" y="2651760"/>
            <a:ext cx="457200" cy="457200"/>
          </a:xfrm>
          <a:prstGeom prst="rect">
            <a:avLst/>
          </a:prstGeom>
          <a:noFill/>
          <a:ln/>
        </p:spPr>
        <p:txBody>
          <a:bodyPr wrap="square" lIns="0" tIns="0" rIns="0" bIns="0" rtlCol="0" anchor="ctr"/>
          <a:lstStyle/>
          <a:p>
            <a:pPr algn="ctr" indent="0" marL="0">
              <a:buNone/>
            </a:pPr>
            <a:r>
              <a:rPr lang="en-US" sz="2400" b="1" dirty="0">
                <a:solidFill>
                  <a:srgbClr val="F59E0B"/>
                </a:solidFill>
                <a:latin typeface="Consolas" pitchFamily="34" charset="0"/>
                <a:ea typeface="Consolas" pitchFamily="34" charset="-122"/>
                <a:cs typeface="Consolas" pitchFamily="34" charset="-120"/>
              </a:rPr>
              <a:t>2</a:t>
            </a:r>
            <a:endParaRPr lang="en-US" sz="2400" dirty="0"/>
          </a:p>
        </p:txBody>
      </p:sp>
      <p:sp>
        <p:nvSpPr>
          <p:cNvPr id="10" name="Text 8"/>
          <p:cNvSpPr/>
          <p:nvPr/>
        </p:nvSpPr>
        <p:spPr>
          <a:xfrm>
            <a:off x="1463040" y="2624328"/>
            <a:ext cx="6583680" cy="32004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"Use the model, not JavaScript math"</a:t>
            </a:r>
            <a:endParaRPr lang="en-US" sz="1500" dirty="0"/>
          </a:p>
        </p:txBody>
      </p:sp>
      <p:sp>
        <p:nvSpPr>
          <p:cNvPr id="11" name="Text 9"/>
          <p:cNvSpPr/>
          <p:nvPr/>
        </p:nvSpPr>
        <p:spPr>
          <a:xfrm>
            <a:off x="1463040" y="2953512"/>
            <a:ext cx="6583680" cy="36576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Read calculated values from the formula engine.</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Never substitute your own arithmetic.</a:t>
            </a:r>
            <a:endParaRPr lang="en-US" sz="1200" dirty="0"/>
          </a:p>
        </p:txBody>
      </p:sp>
      <p:sp>
        <p:nvSpPr>
          <p:cNvPr id="12" name="Shape 10"/>
          <p:cNvSpPr/>
          <p:nvPr/>
        </p:nvSpPr>
        <p:spPr>
          <a:xfrm>
            <a:off x="731520" y="3566160"/>
            <a:ext cx="7680960" cy="8686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3" name="Text 11"/>
          <p:cNvSpPr/>
          <p:nvPr/>
        </p:nvSpPr>
        <p:spPr>
          <a:xfrm>
            <a:off x="914400" y="3703320"/>
            <a:ext cx="457200" cy="457200"/>
          </a:xfrm>
          <a:prstGeom prst="rect">
            <a:avLst/>
          </a:prstGeom>
          <a:noFill/>
          <a:ln/>
        </p:spPr>
        <p:txBody>
          <a:bodyPr wrap="square" lIns="0" tIns="0" rIns="0" bIns="0" rtlCol="0" anchor="ctr"/>
          <a:lstStyle/>
          <a:p>
            <a:pPr algn="ctr" indent="0" marL="0">
              <a:buNone/>
            </a:pPr>
            <a:r>
              <a:rPr lang="en-US" sz="2400" b="1" dirty="0">
                <a:solidFill>
                  <a:srgbClr val="38BDF8"/>
                </a:solidFill>
                <a:latin typeface="Consolas" pitchFamily="34" charset="0"/>
                <a:ea typeface="Consolas" pitchFamily="34" charset="-122"/>
                <a:cs typeface="Consolas" pitchFamily="34" charset="-120"/>
              </a:rPr>
              <a:t>3</a:t>
            </a:r>
            <a:endParaRPr lang="en-US" sz="2400" dirty="0"/>
          </a:p>
        </p:txBody>
      </p:sp>
      <p:sp>
        <p:nvSpPr>
          <p:cNvPr id="14" name="Text 12"/>
          <p:cNvSpPr/>
          <p:nvPr/>
        </p:nvSpPr>
        <p:spPr>
          <a:xfrm>
            <a:off x="1463040" y="3675888"/>
            <a:ext cx="6583680" cy="320040"/>
          </a:xfrm>
          <a:prstGeom prst="rect">
            <a:avLst/>
          </a:prstGeom>
          <a:noFill/>
          <a:ln/>
        </p:spPr>
        <p:txBody>
          <a:bodyPr wrap="square" lIns="0" tIns="0" rIns="0" bIns="0"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"Always cite sheet + address"</a:t>
            </a:r>
            <a:endParaRPr lang="en-US" sz="1500" dirty="0"/>
          </a:p>
        </p:txBody>
      </p:sp>
      <p:sp>
        <p:nvSpPr>
          <p:cNvPr id="15" name="Text 13"/>
          <p:cNvSpPr/>
          <p:nvPr/>
        </p:nvSpPr>
        <p:spPr>
          <a:xfrm>
            <a:off x="1463040" y="4005072"/>
            <a:ext cx="6583680" cy="36576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Every answer must reference where the data came from.</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Summary!C10, not just "$1.2M".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74% to 92% in two weeks</a:t>
            </a:r>
            <a:endParaRPr lang="en-US" sz="2800" dirty="0"/>
          </a:p>
        </p:txBody>
      </p:sp>
      <p:graphicFrame>
        <p:nvGraphicFramePr>
          <p:cNvPr id="3" name="Chart 0" descr=""/>
          <p:cNvGraphicFramePr/>
          <p:nvPr/>
        </p:nvGraphicFramePr>
        <p:xfrm>
          <a:off x="731520" y="109728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2286000" y="1188720"/>
            <a:ext cx="0" cy="2651760"/>
          </a:xfrm>
          <a:prstGeom prst="line">
            <a:avLst/>
          </a:prstGeom>
          <a:noFill/>
          <a:ln w="12700">
            <a:solidFill>
              <a:srgbClr val="F59E0B"/>
            </a:solidFill>
            <a:prstDash val="dash"/>
          </a:ln>
        </p:spPr>
      </p:sp>
      <p:sp>
        <p:nvSpPr>
          <p:cNvPr id="5" name="Text 2"/>
          <p:cNvSpPr/>
          <p:nvPr/>
        </p:nvSpPr>
        <p:spPr>
          <a:xfrm>
            <a:off x="1874520" y="1234440"/>
            <a:ext cx="914400" cy="457200"/>
          </a:xfrm>
          <a:prstGeom prst="rect">
            <a:avLst/>
          </a:prstGeom>
          <a:noFill/>
          <a:ln/>
        </p:spPr>
        <p:txBody>
          <a:bodyPr wrap="square" lIns="0" tIns="0" rIns="0" bIns="0" rtlCol="0" anchor="ctr"/>
          <a:lstStyle/>
          <a:p>
            <a:pPr algn="ctr" indent="0" marL="0">
              <a:buNone/>
            </a:pPr>
            <a:r>
              <a:rPr lang="en-US" sz="900" dirty="0">
                <a:solidFill>
                  <a:srgbClr val="F59E0B"/>
                </a:solidFill>
                <a:latin typeface="Arial" pitchFamily="34" charset="0"/>
                <a:ea typeface="Arial" pitchFamily="34" charset="-122"/>
                <a:cs typeface="Arial" pitchFamily="34" charset="-120"/>
              </a:rPr>
              <a:t>REPL</a:t>
            </a:r>
            <a:endParaRPr lang="en-US" sz="900" dirty="0"/>
          </a:p>
          <a:p>
            <a:pPr algn="ctr" indent="0" marL="0">
              <a:buNone/>
            </a:pPr>
            <a:r>
              <a:rPr lang="en-US" sz="900" dirty="0">
                <a:solidFill>
                  <a:srgbClr val="F59E0B"/>
                </a:solidFill>
                <a:latin typeface="Arial" pitchFamily="34" charset="0"/>
                <a:ea typeface="Arial" pitchFamily="34" charset="-122"/>
                <a:cs typeface="Arial" pitchFamily="34" charset="-120"/>
              </a:rPr>
              <a:t>introduced</a:t>
            </a:r>
            <a:endParaRPr lang="en-US" sz="900" dirty="0"/>
          </a:p>
        </p:txBody>
      </p:sp>
      <p:sp>
        <p:nvSpPr>
          <p:cNvPr id="6" name="Text 3"/>
          <p:cNvSpPr/>
          <p:nvPr/>
        </p:nvSpPr>
        <p:spPr>
          <a:xfrm>
            <a:off x="6217920" y="1280160"/>
            <a:ext cx="2286000" cy="731520"/>
          </a:xfrm>
          <a:prstGeom prst="rect">
            <a:avLst/>
          </a:prstGeom>
          <a:noFill/>
          <a:ln/>
        </p:spPr>
        <p:txBody>
          <a:bodyPr wrap="square" lIns="0" tIns="0" rIns="0" bIns="0" rtlCol="0" anchor="ctr"/>
          <a:lstStyle/>
          <a:p>
            <a:pPr indent="0" marL="0">
              <a:buNone/>
            </a:pPr>
            <a:r>
              <a:rPr lang="en-US" sz="4800" b="1" dirty="0">
                <a:solidFill>
                  <a:srgbClr val="34D399"/>
                </a:solidFill>
                <a:latin typeface="Consolas" pitchFamily="34" charset="0"/>
                <a:ea typeface="Consolas" pitchFamily="34" charset="-122"/>
                <a:cs typeface="Consolas" pitchFamily="34" charset="-120"/>
              </a:rPr>
              <a:t>92.1%</a:t>
            </a:r>
            <a:endParaRPr lang="en-US" sz="4800" dirty="0"/>
          </a:p>
        </p:txBody>
      </p:sp>
      <p:sp>
        <p:nvSpPr>
          <p:cNvPr id="7" name="Text 4"/>
          <p:cNvSpPr/>
          <p:nvPr/>
        </p:nvSpPr>
        <p:spPr>
          <a:xfrm>
            <a:off x="6217920" y="1965960"/>
            <a:ext cx="2286000" cy="32004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152/165 tasks</a:t>
            </a:r>
            <a:endParaRPr lang="en-US" sz="1400" dirty="0"/>
          </a:p>
        </p:txBody>
      </p:sp>
      <p:sp>
        <p:nvSpPr>
          <p:cNvPr id="8" name="Text 5"/>
          <p:cNvSpPr/>
          <p:nvPr/>
        </p:nvSpPr>
        <p:spPr>
          <a:xfrm>
            <a:off x="6217920" y="2560320"/>
            <a:ext cx="1097280" cy="54864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0</a:t>
            </a:r>
            <a:endParaRPr lang="en-US" sz="3600" dirty="0"/>
          </a:p>
        </p:txBody>
      </p:sp>
      <p:sp>
        <p:nvSpPr>
          <p:cNvPr id="9" name="Text 6"/>
          <p:cNvSpPr/>
          <p:nvPr/>
        </p:nvSpPr>
        <p:spPr>
          <a:xfrm>
            <a:off x="7132320" y="2606040"/>
            <a:ext cx="1371600" cy="45720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timeouts</a:t>
            </a:r>
            <a:endParaRPr lang="en-US" sz="1400" dirty="0"/>
          </a:p>
        </p:txBody>
      </p:sp>
      <p:sp>
        <p:nvSpPr>
          <p:cNvPr id="10" name="Text 7"/>
          <p:cNvSpPr/>
          <p:nvPr/>
        </p:nvSpPr>
        <p:spPr>
          <a:xfrm>
            <a:off x="6217920" y="3200400"/>
            <a:ext cx="1097280" cy="548640"/>
          </a:xfrm>
          <a:prstGeom prst="rect">
            <a:avLst/>
          </a:prstGeom>
          <a:noFill/>
          <a:ln/>
        </p:spPr>
        <p:txBody>
          <a:bodyPr wrap="square" lIns="0" tIns="0" rIns="0" bIns="0" rtlCol="0" anchor="ctr"/>
          <a:lstStyle/>
          <a:p>
            <a:pPr indent="0" marL="0">
              <a:buNone/>
            </a:pPr>
            <a:r>
              <a:rPr lang="en-US" sz="3600" b="1" dirty="0">
                <a:solidFill>
                  <a:srgbClr val="FFFFFF"/>
                </a:solidFill>
                <a:latin typeface="Consolas" pitchFamily="34" charset="0"/>
                <a:ea typeface="Consolas" pitchFamily="34" charset="-122"/>
                <a:cs typeface="Consolas" pitchFamily="34" charset="-120"/>
              </a:rPr>
              <a:t>50s</a:t>
            </a:r>
            <a:endParaRPr lang="en-US" sz="3600" dirty="0"/>
          </a:p>
        </p:txBody>
      </p:sp>
      <p:sp>
        <p:nvSpPr>
          <p:cNvPr id="11" name="Text 8"/>
          <p:cNvSpPr/>
          <p:nvPr/>
        </p:nvSpPr>
        <p:spPr>
          <a:xfrm>
            <a:off x="7132320" y="3246120"/>
            <a:ext cx="1371600" cy="457200"/>
          </a:xfrm>
          <a:prstGeom prst="rect">
            <a:avLst/>
          </a:prstGeom>
          <a:noFill/>
          <a:ln/>
        </p:spPr>
        <p:txBody>
          <a:bodyPr wrap="square" lIns="0" tIns="0" rIns="0" bIns="0" rtlCol="0" anchor="ctr"/>
          <a:lstStyle/>
          <a:p>
            <a:pPr indent="0" marL="0">
              <a:buNone/>
            </a:pPr>
            <a:r>
              <a:rPr lang="en-US" sz="1400" dirty="0">
                <a:solidFill>
                  <a:srgbClr val="B4BCD0"/>
                </a:solidFill>
                <a:latin typeface="Arial" pitchFamily="34" charset="0"/>
                <a:ea typeface="Arial" pitchFamily="34" charset="-122"/>
                <a:cs typeface="Arial" pitchFamily="34" charset="-120"/>
              </a:rPr>
              <a:t>avg runtime</a:t>
            </a:r>
            <a:endParaRPr lang="en-US" sz="1400" dirty="0"/>
          </a:p>
        </p:txBody>
      </p:sp>
      <p:sp>
        <p:nvSpPr>
          <p:cNvPr id="12" name="Text 9"/>
          <p:cNvSpPr/>
          <p:nvPr/>
        </p:nvSpPr>
        <p:spPr>
          <a:xfrm>
            <a:off x="731520" y="4114800"/>
            <a:ext cx="7680960" cy="64008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18 points in two weeks from compounding small gains:</a:t>
            </a:r>
            <a:endParaRPr lang="en-US" sz="1300" dirty="0"/>
          </a:p>
          <a:p>
            <a:pPr indent="0" marL="0">
              <a:buNone/>
            </a:pPr>
            <a:r>
              <a:rPr lang="en-US" sz="1300" dirty="0">
                <a:solidFill>
                  <a:srgbClr val="B4BCD0"/>
                </a:solidFill>
                <a:latin typeface="Arial" pitchFamily="34" charset="0"/>
                <a:ea typeface="Arial" pitchFamily="34" charset="-122"/>
                <a:cs typeface="Arial" pitchFamily="34" charset="-120"/>
              </a:rPr>
              <a:t>better search, new API functions, improved docs, backend bug fixes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The test that contradicted our thesis</a:t>
            </a:r>
            <a:endParaRPr lang="en-US" sz="2800" dirty="0"/>
          </a:p>
        </p:txBody>
      </p:sp>
      <p:sp>
        <p:nvSpPr>
          <p:cNvPr id="3" name="Shape 1"/>
          <p:cNvSpPr/>
          <p:nvPr/>
        </p:nvSpPr>
        <p:spPr>
          <a:xfrm>
            <a:off x="731520" y="1188720"/>
            <a:ext cx="3657600" cy="182880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4" name="Shape 2"/>
          <p:cNvSpPr/>
          <p:nvPr/>
        </p:nvSpPr>
        <p:spPr>
          <a:xfrm>
            <a:off x="731520" y="1188720"/>
            <a:ext cx="3657600" cy="54864"/>
          </a:xfrm>
          <a:prstGeom prst="rect">
            <a:avLst/>
          </a:prstGeom>
          <a:solidFill>
            <a:srgbClr val="34D399"/>
          </a:solidFill>
          <a:ln/>
        </p:spPr>
      </p:sp>
      <p:sp>
        <p:nvSpPr>
          <p:cNvPr id="5" name="Text 3"/>
          <p:cNvSpPr/>
          <p:nvPr/>
        </p:nvSpPr>
        <p:spPr>
          <a:xfrm>
            <a:off x="914400" y="1371600"/>
            <a:ext cx="3291840" cy="320040"/>
          </a:xfrm>
          <a:prstGeom prst="rect">
            <a:avLst/>
          </a:prstGeom>
          <a:noFill/>
          <a:ln/>
        </p:spPr>
        <p:txBody>
          <a:bodyPr wrap="square" lIns="0" tIns="0" rIns="0" bIns="0" rtlCol="0" anchor="ctr"/>
          <a:lstStyle/>
          <a:p>
            <a:pPr indent="0" marL="0">
              <a:buNone/>
            </a:pPr>
            <a:r>
              <a:rPr lang="en-US" sz="1600" b="1" dirty="0">
                <a:solidFill>
                  <a:srgbClr val="34D399"/>
                </a:solidFill>
                <a:latin typeface="Consolas" pitchFamily="34" charset="0"/>
                <a:ea typeface="Consolas" pitchFamily="34" charset="-122"/>
                <a:cs typeface="Consolas" pitchFamily="34" charset="-120"/>
              </a:rPr>
              <a:t>exec / REPL</a:t>
            </a:r>
            <a:endParaRPr lang="en-US" sz="1600" dirty="0"/>
          </a:p>
        </p:txBody>
      </p:sp>
      <p:sp>
        <p:nvSpPr>
          <p:cNvPr id="6" name="Text 4"/>
          <p:cNvSpPr/>
          <p:nvPr/>
        </p:nvSpPr>
        <p:spPr>
          <a:xfrm>
            <a:off x="914400" y="1783080"/>
            <a:ext cx="3291840" cy="54864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The 92% approach</a:t>
            </a:r>
            <a:endParaRPr lang="en-US" sz="1300" dirty="0"/>
          </a:p>
          <a:p>
            <a:pPr indent="0" marL="0">
              <a:buNone/>
            </a:pPr>
            <a:r>
              <a:rPr lang="en-US" sz="1300" dirty="0">
                <a:solidFill>
                  <a:srgbClr val="B4BCD0"/>
                </a:solidFill>
                <a:latin typeface="Arial" pitchFamily="34" charset="0"/>
                <a:ea typeface="Arial" pitchFamily="34" charset="-122"/>
                <a:cs typeface="Arial" pitchFamily="34" charset="-120"/>
              </a:rPr>
              <a:t>Already proven internally</a:t>
            </a:r>
            <a:endParaRPr lang="en-US" sz="1300" dirty="0"/>
          </a:p>
        </p:txBody>
      </p:sp>
      <p:sp>
        <p:nvSpPr>
          <p:cNvPr id="7" name="Text 5"/>
          <p:cNvSpPr/>
          <p:nvPr/>
        </p:nvSpPr>
        <p:spPr>
          <a:xfrm>
            <a:off x="914400" y="2423160"/>
            <a:ext cx="3291840" cy="320040"/>
          </a:xfrm>
          <a:prstGeom prst="rect">
            <a:avLst/>
          </a:prstGeom>
          <a:noFill/>
          <a:ln/>
        </p:spPr>
        <p:txBody>
          <a:bodyPr wrap="square" lIns="0" tIns="0" rIns="0" bIns="0" rtlCol="0" anchor="ctr"/>
          <a:lstStyle/>
          <a:p>
            <a:pPr indent="0" marL="0">
              <a:buNone/>
            </a:pPr>
            <a:r>
              <a:rPr lang="en-US" sz="1200" i="1" dirty="0">
                <a:solidFill>
                  <a:srgbClr val="B4BCD0"/>
                </a:solidFill>
                <a:latin typeface="Arial" pitchFamily="34" charset="0"/>
                <a:ea typeface="Arial" pitchFamily="34" charset="-122"/>
                <a:cs typeface="Arial" pitchFamily="34" charset="-120"/>
              </a:rPr>
              <a:t>(not part of this test)</a:t>
            </a:r>
            <a:endParaRPr lang="en-US" sz="1200" dirty="0"/>
          </a:p>
        </p:txBody>
      </p:sp>
      <p:sp>
        <p:nvSpPr>
          <p:cNvPr id="8" name="Shape 6"/>
          <p:cNvSpPr/>
          <p:nvPr/>
        </p:nvSpPr>
        <p:spPr>
          <a:xfrm>
            <a:off x="4754880" y="1188720"/>
            <a:ext cx="3657600" cy="182880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Shape 7"/>
          <p:cNvSpPr/>
          <p:nvPr/>
        </p:nvSpPr>
        <p:spPr>
          <a:xfrm>
            <a:off x="4754880" y="1188720"/>
            <a:ext cx="3657600" cy="54864"/>
          </a:xfrm>
          <a:prstGeom prst="rect">
            <a:avLst/>
          </a:prstGeom>
          <a:solidFill>
            <a:srgbClr val="F59E0B"/>
          </a:solidFill>
          <a:ln/>
        </p:spPr>
      </p:sp>
      <p:sp>
        <p:nvSpPr>
          <p:cNvPr id="10" name="Text 8"/>
          <p:cNvSpPr/>
          <p:nvPr/>
        </p:nvSpPr>
        <p:spPr>
          <a:xfrm>
            <a:off x="4937760" y="1371600"/>
            <a:ext cx="3291840" cy="320040"/>
          </a:xfrm>
          <a:prstGeom prst="rect">
            <a:avLst/>
          </a:prstGeom>
          <a:noFill/>
          <a:ln/>
        </p:spPr>
        <p:txBody>
          <a:bodyPr wrap="square" lIns="0" tIns="0" rIns="0" bIns="0" rtlCol="0" anchor="ctr"/>
          <a:lstStyle/>
          <a:p>
            <a:pPr indent="0" marL="0">
              <a:buNone/>
            </a:pPr>
            <a:r>
              <a:rPr lang="en-US" sz="1600" b="1" dirty="0">
                <a:solidFill>
                  <a:srgbClr val="F59E0B"/>
                </a:solidFill>
                <a:latin typeface="Consolas" pitchFamily="34" charset="0"/>
                <a:ea typeface="Consolas" pitchFamily="34" charset="-122"/>
                <a:cs typeface="Consolas" pitchFamily="34" charset="-120"/>
              </a:rPr>
              <a:t>verify CLI</a:t>
            </a:r>
            <a:endParaRPr lang="en-US" sz="1600" dirty="0"/>
          </a:p>
        </p:txBody>
      </p:sp>
      <p:sp>
        <p:nvSpPr>
          <p:cNvPr id="11" name="Text 9"/>
          <p:cNvSpPr/>
          <p:nvPr/>
        </p:nvSpPr>
        <p:spPr>
          <a:xfrm>
            <a:off x="4937760" y="1783080"/>
            <a:ext cx="3291840" cy="54864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Separate commands:</a:t>
            </a:r>
            <a:endParaRPr lang="en-US" sz="1300" dirty="0"/>
          </a:p>
          <a:p>
            <a:pPr indent="0" marL="0">
              <a:buNone/>
            </a:pPr>
            <a:r>
              <a:rPr lang="en-US" sz="1300" dirty="0">
                <a:solidFill>
                  <a:srgbClr val="B4BCD0"/>
                </a:solidFill>
                <a:latin typeface="Arial" pitchFamily="34" charset="0"/>
                <a:ea typeface="Arial" pitchFamily="34" charset="-122"/>
                <a:cs typeface="Arial" pitchFamily="34" charset="-120"/>
              </a:rPr>
              <a:t>find, calc, render, lint</a:t>
            </a:r>
            <a:endParaRPr lang="en-US" sz="1300" dirty="0"/>
          </a:p>
        </p:txBody>
      </p:sp>
      <p:sp>
        <p:nvSpPr>
          <p:cNvPr id="12" name="Text 10"/>
          <p:cNvSpPr/>
          <p:nvPr/>
        </p:nvSpPr>
        <p:spPr>
          <a:xfrm>
            <a:off x="4937760" y="2423160"/>
            <a:ext cx="3291840" cy="320040"/>
          </a:xfrm>
          <a:prstGeom prst="rect">
            <a:avLst/>
          </a:prstGeom>
          <a:noFill/>
          <a:ln/>
        </p:spPr>
        <p:txBody>
          <a:bodyPr wrap="square" lIns="0" tIns="0" rIns="0" bIns="0" rtlCol="0" anchor="ctr"/>
          <a:lstStyle/>
          <a:p>
            <a:pPr indent="0" marL="0">
              <a:buNone/>
            </a:pPr>
            <a:r>
              <a:rPr lang="en-US" sz="1200" i="1" dirty="0">
                <a:solidFill>
                  <a:srgbClr val="F59E0B"/>
                </a:solidFill>
                <a:latin typeface="Arial" pitchFamily="34" charset="0"/>
                <a:ea typeface="Arial" pitchFamily="34" charset="-122"/>
                <a:cs typeface="Arial" pitchFamily="34" charset="-120"/>
              </a:rPr>
              <a:t>vs. openpyxl on 20 QnA tasks</a:t>
            </a:r>
            <a:endParaRPr lang="en-US" sz="1200" dirty="0"/>
          </a:p>
        </p:txBody>
      </p:sp>
      <p:sp>
        <p:nvSpPr>
          <p:cNvPr id="13" name="Text 11"/>
          <p:cNvSpPr/>
          <p:nvPr/>
        </p:nvSpPr>
        <p:spPr>
          <a:xfrm>
            <a:off x="731520" y="3383280"/>
            <a:ext cx="7680960" cy="365760"/>
          </a:xfrm>
          <a:prstGeom prst="rect">
            <a:avLst/>
          </a:prstGeom>
          <a:noFill/>
          <a:ln/>
        </p:spPr>
        <p:txBody>
          <a:bodyPr wrap="square" lIns="0" tIns="0" rIns="0" bIns="0" rtlCol="0" anchor="ctr"/>
          <a:lstStyle/>
          <a:p>
            <a:pPr algn="ctr" indent="0" marL="0">
              <a:buNone/>
            </a:pPr>
            <a:r>
              <a:rPr lang="en-US" sz="1400" dirty="0">
                <a:solidFill>
                  <a:srgbClr val="B4BCD0"/>
                </a:solidFill>
                <a:latin typeface="Arial" pitchFamily="34" charset="0"/>
                <a:ea typeface="Arial" pitchFamily="34" charset="-122"/>
                <a:cs typeface="Arial" pitchFamily="34" charset="-120"/>
              </a:rPr>
              <a:t>Same model </a:t>
            </a:r>
            <a:pPr algn="ctr" indent="0" marL="0">
              <a:buNone/>
            </a:pPr>
            <a:r>
              <a:rPr lang="en-US" sz="1400" dirty="0">
                <a:solidFill>
                  <a:srgbClr val="FFFFFF"/>
                </a:solidFill>
                <a:latin typeface="Arial" pitchFamily="34" charset="0"/>
                <a:ea typeface="Arial" pitchFamily="34" charset="-122"/>
                <a:cs typeface="Arial" pitchFamily="34" charset="-120"/>
              </a:rPr>
              <a:t>(Claude Opus 4.6)</a:t>
            </a:r>
            <a:pPr algn="ctr" indent="0" marL="0">
              <a:buNone/>
            </a:pPr>
            <a:r>
              <a:rPr lang="en-US" sz="1400" dirty="0">
                <a:solidFill>
                  <a:srgbClr val="B4BCD0"/>
                </a:solidFill>
                <a:latin typeface="Arial" pitchFamily="34" charset="0"/>
                <a:ea typeface="Arial" pitchFamily="34" charset="-122"/>
                <a:cs typeface="Arial" pitchFamily="34" charset="-120"/>
              </a:rPr>
              <a:t>  •  Same runner  •  Same 20 tasks</a:t>
            </a:r>
            <a:endParaRPr lang="en-US" sz="1400" dirty="0"/>
          </a:p>
        </p:txBody>
      </p:sp>
      <p:sp>
        <p:nvSpPr>
          <p:cNvPr id="14" name="Text 12"/>
          <p:cNvSpPr/>
          <p:nvPr/>
        </p:nvSpPr>
        <p:spPr>
          <a:xfrm>
            <a:off x="731520" y="4114800"/>
            <a:ext cx="768096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We expected: our sophisticated tool wins.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lIns="0" tIns="0" rIns="0" bIns="0" rtlCol="0" anchor="ctr"/>
          <a:lstStyle/>
          <a:p>
            <a:pPr algn="ctr" indent="0" marL="0">
              <a:buNone/>
            </a:pPr>
            <a:r>
              <a:rPr lang="en-US" sz="4400" b="1" dirty="0">
                <a:solidFill>
                  <a:srgbClr val="F87171"/>
                </a:solidFill>
                <a:latin typeface="Consolas" pitchFamily="34" charset="0"/>
                <a:ea typeface="Consolas" pitchFamily="34" charset="-122"/>
                <a:cs typeface="Consolas" pitchFamily="34" charset="-120"/>
              </a:rPr>
              <a:t>openpyxl won.</a:t>
            </a:r>
            <a:endParaRPr lang="en-US" sz="4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828800" y="1828800"/>
          <a:ext cx="5486400" cy="914400"/>
        </p:xfrm>
        <a:graphic>
          <a:graphicData uri="http://schemas.openxmlformats.org/drawingml/2006/table">
            <a:tbl>
              <a:tblPr/>
              <a:tblGrid>
                <a:gridCol w="1828800"/>
                <a:gridCol w="1828800"/>
                <a:gridCol w="1828800"/>
              </a:tblGrid>
              <a:tr h="457200">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openpyxl</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Witan CLI</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548640">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Pass rate</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85%</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70%</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548640">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Avg tool calls</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21</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algn="ctr" indent="0" marL="0">
                        <a:buNone/>
                      </a:pPr>
                      <a:r>
                        <a:rPr lang="en-US" sz="1600" dirty="0">
                          <a:solidFill>
                            <a:srgbClr val="FFFFFF"/>
                          </a:solidFill>
                          <a:latin typeface="Arial" pitchFamily="34" charset="0"/>
                          <a:ea typeface="Arial" pitchFamily="34" charset="-122"/>
                          <a:cs typeface="Arial" pitchFamily="34" charset="-120"/>
                        </a:rPr>
                        <a:t>42</a:t>
                      </a:r>
                      <a:endParaRPr lang="en-US" sz="16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bl>
          </a:graphicData>
        </a:graphic>
      </p:graphicFrame>
      <p:sp>
        <p:nvSpPr>
          <p:cNvPr id="4" name="Shape 1"/>
          <p:cNvSpPr/>
          <p:nvPr/>
        </p:nvSpPr>
        <p:spPr>
          <a:xfrm>
            <a:off x="1828800" y="1828800"/>
            <a:ext cx="5486400" cy="457200"/>
          </a:xfrm>
          <a:prstGeom prst="rect">
            <a:avLst/>
          </a:prstGeom>
          <a:solidFill>
            <a:srgbClr val="282D3F"/>
          </a:solidFill>
          <a:ln/>
        </p:spPr>
      </p:sp>
      <p:sp>
        <p:nvSpPr>
          <p:cNvPr id="5" name="Text 2"/>
          <p:cNvSpPr/>
          <p:nvPr/>
        </p:nvSpPr>
        <p:spPr>
          <a:xfrm>
            <a:off x="1828800" y="1828800"/>
            <a:ext cx="5486400" cy="457200"/>
          </a:xfrm>
          <a:prstGeom prst="rect">
            <a:avLst/>
          </a:prstGeom>
          <a:noFill/>
          <a:ln/>
        </p:spPr>
        <p:txBody>
          <a:bodyPr wrap="square" lIns="0" tIns="0" rIns="0" bIns="0" rtlCol="0" anchor="ctr"/>
          <a:lstStyle/>
          <a:p>
            <a:pPr algn="ctr" indent="0" marL="0">
              <a:buNone/>
            </a:pPr>
            <a:r>
              <a:rPr lang="en-US" sz="1400" b="1" dirty="0">
                <a:solidFill>
                  <a:srgbClr val="38BDF8"/>
                </a:solidFill>
                <a:latin typeface="Arial" pitchFamily="34" charset="0"/>
                <a:ea typeface="Arial" pitchFamily="34" charset="-122"/>
                <a:cs typeface="Arial" pitchFamily="34" charset="-120"/>
              </a:rPr>
              <a:t>                    openpyxl                    Witan CLI</a:t>
            </a:r>
            <a:endParaRPr lang="en-US" sz="1400" dirty="0"/>
          </a:p>
        </p:txBody>
      </p:sp>
      <p:sp>
        <p:nvSpPr>
          <p:cNvPr id="6" name="Text 3"/>
          <p:cNvSpPr/>
          <p:nvPr/>
        </p:nvSpPr>
        <p:spPr>
          <a:xfrm>
            <a:off x="457200" y="3840480"/>
            <a:ext cx="8229600" cy="45720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The simpler approach won by 15 points.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Why it lost (the mundane reasons)</a:t>
            </a:r>
            <a:endParaRPr lang="en-US" sz="2800" dirty="0"/>
          </a:p>
        </p:txBody>
      </p:sp>
      <p:sp>
        <p:nvSpPr>
          <p:cNvPr id="3" name="Text 1"/>
          <p:cNvSpPr/>
          <p:nvPr/>
        </p:nvSpPr>
        <p:spPr>
          <a:xfrm>
            <a:off x="731520" y="1143000"/>
            <a:ext cx="365760" cy="365760"/>
          </a:xfrm>
          <a:prstGeom prst="rect">
            <a:avLst/>
          </a:prstGeom>
          <a:noFill/>
          <a:ln/>
        </p:spPr>
        <p:txBody>
          <a:bodyPr wrap="square" lIns="0" tIns="0" rIns="0" bIns="0" rtlCol="0" anchor="ctr"/>
          <a:lstStyle/>
          <a:p>
            <a:pPr indent="0" marL="0">
              <a:buNone/>
            </a:pPr>
            <a:r>
              <a:rPr lang="en-US" sz="2000" b="1" dirty="0">
                <a:solidFill>
                  <a:srgbClr val="F87171"/>
                </a:solidFill>
                <a:latin typeface="Consolas" pitchFamily="34" charset="0"/>
                <a:ea typeface="Consolas" pitchFamily="34" charset="-122"/>
                <a:cs typeface="Consolas" pitchFamily="34" charset="-120"/>
              </a:rPr>
              <a:t>1</a:t>
            </a:r>
            <a:endParaRPr lang="en-US" sz="2000" dirty="0"/>
          </a:p>
        </p:txBody>
      </p:sp>
      <p:sp>
        <p:nvSpPr>
          <p:cNvPr id="4" name="Text 2"/>
          <p:cNvSpPr/>
          <p:nvPr/>
        </p:nvSpPr>
        <p:spPr>
          <a:xfrm>
            <a:off x="1280160" y="1097280"/>
            <a:ext cx="7132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performance bug</a:t>
            </a:r>
            <a:endParaRPr lang="en-US" sz="1500" dirty="0"/>
          </a:p>
        </p:txBody>
      </p:sp>
      <p:sp>
        <p:nvSpPr>
          <p:cNvPr id="5" name="Text 3"/>
          <p:cNvSpPr/>
          <p:nvPr/>
        </p:nvSpPr>
        <p:spPr>
          <a:xfrm>
            <a:off x="1280160" y="1417320"/>
            <a:ext cx="7132320" cy="5029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Each CLI command took 50-130s. Per-cell recalculation</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query instead of batch. 20+ ops per task → timeout.</a:t>
            </a:r>
            <a:endParaRPr lang="en-US" sz="1200" dirty="0"/>
          </a:p>
        </p:txBody>
      </p:sp>
      <p:sp>
        <p:nvSpPr>
          <p:cNvPr id="6" name="Text 4"/>
          <p:cNvSpPr/>
          <p:nvPr/>
        </p:nvSpPr>
        <p:spPr>
          <a:xfrm>
            <a:off x="731520" y="2057400"/>
            <a:ext cx="365760" cy="365760"/>
          </a:xfrm>
          <a:prstGeom prst="rect">
            <a:avLst/>
          </a:prstGeom>
          <a:noFill/>
          <a:ln/>
        </p:spPr>
        <p:txBody>
          <a:bodyPr wrap="square" lIns="0" tIns="0" rIns="0" bIns="0" rtlCol="0" anchor="ctr"/>
          <a:lstStyle/>
          <a:p>
            <a:pPr indent="0" marL="0">
              <a:buNone/>
            </a:pPr>
            <a:r>
              <a:rPr lang="en-US" sz="2000" b="1" dirty="0">
                <a:solidFill>
                  <a:srgbClr val="F59E0B"/>
                </a:solidFill>
                <a:latin typeface="Consolas" pitchFamily="34" charset="0"/>
                <a:ea typeface="Consolas" pitchFamily="34" charset="-122"/>
                <a:cs typeface="Consolas" pitchFamily="34" charset="-120"/>
              </a:rPr>
              <a:t>2</a:t>
            </a:r>
            <a:endParaRPr lang="en-US" sz="2000" dirty="0"/>
          </a:p>
        </p:txBody>
      </p:sp>
      <p:sp>
        <p:nvSpPr>
          <p:cNvPr id="7" name="Text 5"/>
          <p:cNvSpPr/>
          <p:nvPr/>
        </p:nvSpPr>
        <p:spPr>
          <a:xfrm>
            <a:off x="1280160" y="2011680"/>
            <a:ext cx="7132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Shell escaping</a:t>
            </a:r>
            <a:endParaRPr lang="en-US" sz="1500" dirty="0"/>
          </a:p>
        </p:txBody>
      </p:sp>
      <p:sp>
        <p:nvSpPr>
          <p:cNvPr id="8" name="Text 6"/>
          <p:cNvSpPr/>
          <p:nvPr/>
        </p:nvSpPr>
        <p:spPr>
          <a:xfrm>
            <a:off x="1280160" y="2331720"/>
            <a:ext cx="7132320" cy="5029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Sheet names with spaces ("SW Selections") broke across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three quoting layers: Claude Code SDK → zsh → .NET</a:t>
            </a:r>
            <a:endParaRPr lang="en-US" sz="1200" dirty="0"/>
          </a:p>
        </p:txBody>
      </p:sp>
      <p:sp>
        <p:nvSpPr>
          <p:cNvPr id="9" name="Text 7"/>
          <p:cNvSpPr/>
          <p:nvPr/>
        </p:nvSpPr>
        <p:spPr>
          <a:xfrm>
            <a:off x="731520" y="2971800"/>
            <a:ext cx="365760" cy="365760"/>
          </a:xfrm>
          <a:prstGeom prst="rect">
            <a:avLst/>
          </a:prstGeom>
          <a:noFill/>
          <a:ln/>
        </p:spPr>
        <p:txBody>
          <a:bodyPr wrap="square" lIns="0" tIns="0" rIns="0" bIns="0" rtlCol="0" anchor="ctr"/>
          <a:lstStyle/>
          <a:p>
            <a:pPr indent="0" marL="0">
              <a:buNone/>
            </a:pPr>
            <a:r>
              <a:rPr lang="en-US" sz="2000" b="1" dirty="0">
                <a:solidFill>
                  <a:srgbClr val="38BDF8"/>
                </a:solidFill>
                <a:latin typeface="Consolas" pitchFamily="34" charset="0"/>
                <a:ea typeface="Consolas" pitchFamily="34" charset="-122"/>
                <a:cs typeface="Consolas" pitchFamily="34" charset="-120"/>
              </a:rPr>
              <a:t>3</a:t>
            </a:r>
            <a:endParaRPr lang="en-US" sz="2000" dirty="0"/>
          </a:p>
        </p:txBody>
      </p:sp>
      <p:sp>
        <p:nvSpPr>
          <p:cNvPr id="10" name="Text 8"/>
          <p:cNvSpPr/>
          <p:nvPr/>
        </p:nvSpPr>
        <p:spPr>
          <a:xfrm>
            <a:off x="1280160" y="2926080"/>
            <a:ext cx="7132320" cy="3200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Documentation was backwards</a:t>
            </a:r>
            <a:endParaRPr lang="en-US" sz="1500" dirty="0"/>
          </a:p>
        </p:txBody>
      </p:sp>
      <p:sp>
        <p:nvSpPr>
          <p:cNvPr id="11" name="Text 9"/>
          <p:cNvSpPr/>
          <p:nvPr/>
        </p:nvSpPr>
        <p:spPr>
          <a:xfrm>
            <a:off x="1280160" y="3246120"/>
            <a:ext cx="7132320" cy="5029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SKILL.md had the wrong quoting examples.</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The agent followed our wrong instructions faithfully.</a:t>
            </a:r>
            <a:endParaRPr lang="en-US" sz="1200" dirty="0"/>
          </a:p>
        </p:txBody>
      </p:sp>
      <p:sp>
        <p:nvSpPr>
          <p:cNvPr id="12" name="Shape 10"/>
          <p:cNvSpPr/>
          <p:nvPr/>
        </p:nvSpPr>
        <p:spPr>
          <a:xfrm>
            <a:off x="731520" y="4114800"/>
            <a:ext cx="7680960" cy="6400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3" name="Text 11"/>
          <p:cNvSpPr/>
          <p:nvPr/>
        </p:nvSpPr>
        <p:spPr>
          <a:xfrm>
            <a:off x="1005840" y="4160520"/>
            <a:ext cx="7132320" cy="50292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Meanwhile, openpyxl: </a:t>
            </a:r>
            <a:pPr indent="0" marL="0">
              <a:buNone/>
            </a:pPr>
            <a:r>
              <a:rPr lang="en-US" sz="1300" b="1" dirty="0">
                <a:solidFill>
                  <a:srgbClr val="34D399"/>
                </a:solidFill>
                <a:latin typeface="Arial" pitchFamily="34" charset="0"/>
                <a:ea typeface="Arial" pitchFamily="34" charset="-122"/>
                <a:cs typeface="Arial" pitchFamily="34" charset="-120"/>
              </a:rPr>
              <a:t>Python strings. Millisecond file access. Zero infrastructure. Zero quoting issues.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What the failure revealed</a:t>
            </a:r>
            <a:endParaRPr lang="en-US" sz="2800" dirty="0"/>
          </a:p>
        </p:txBody>
      </p:sp>
      <p:sp>
        <p:nvSpPr>
          <p:cNvPr id="3" name="Text 1"/>
          <p:cNvSpPr/>
          <p:nvPr/>
        </p:nvSpPr>
        <p:spPr>
          <a:xfrm>
            <a:off x="731520" y="1097280"/>
            <a:ext cx="7680960" cy="365760"/>
          </a:xfrm>
          <a:prstGeom prst="rect">
            <a:avLst/>
          </a:prstGeom>
          <a:noFill/>
          <a:ln/>
        </p:spPr>
        <p:txBody>
          <a:bodyPr wrap="square" lIns="0" tIns="0" rIns="0" bIns="0" rtlCol="0" anchor="ctr"/>
          <a:lstStyle/>
          <a:p>
            <a:pPr indent="0" marL="0">
              <a:buNone/>
            </a:pPr>
            <a:r>
              <a:rPr lang="en-US" sz="1500" dirty="0">
                <a:solidFill>
                  <a:srgbClr val="B4BCD0"/>
                </a:solidFill>
                <a:latin typeface="Arial" pitchFamily="34" charset="0"/>
                <a:ea typeface="Arial" pitchFamily="34" charset="-122"/>
                <a:cs typeface="Arial" pitchFamily="34" charset="-120"/>
              </a:rPr>
              <a:t>Two products emerged from one failed test:</a:t>
            </a:r>
            <a:endParaRPr lang="en-US" sz="1500" dirty="0"/>
          </a:p>
        </p:txBody>
      </p:sp>
      <p:sp>
        <p:nvSpPr>
          <p:cNvPr id="4" name="Shape 2"/>
          <p:cNvSpPr/>
          <p:nvPr/>
        </p:nvSpPr>
        <p:spPr>
          <a:xfrm>
            <a:off x="731520" y="1645920"/>
            <a:ext cx="3657600" cy="146304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5" name="Shape 3"/>
          <p:cNvSpPr/>
          <p:nvPr/>
        </p:nvSpPr>
        <p:spPr>
          <a:xfrm>
            <a:off x="731520" y="1645920"/>
            <a:ext cx="3657600" cy="54864"/>
          </a:xfrm>
          <a:prstGeom prst="rect">
            <a:avLst/>
          </a:prstGeom>
          <a:solidFill>
            <a:srgbClr val="34D399"/>
          </a:solidFill>
          <a:ln/>
        </p:spPr>
      </p:sp>
      <p:sp>
        <p:nvSpPr>
          <p:cNvPr id="6" name="Text 4"/>
          <p:cNvSpPr/>
          <p:nvPr/>
        </p:nvSpPr>
        <p:spPr>
          <a:xfrm>
            <a:off x="914400" y="1783080"/>
            <a:ext cx="3291840" cy="320040"/>
          </a:xfrm>
          <a:prstGeom prst="rect">
            <a:avLst/>
          </a:prstGeom>
          <a:noFill/>
          <a:ln/>
        </p:spPr>
        <p:txBody>
          <a:bodyPr wrap="square" lIns="0" tIns="0" rIns="0" bIns="0" rtlCol="0" anchor="ctr"/>
          <a:lstStyle/>
          <a:p>
            <a:pPr indent="0" marL="0">
              <a:buNone/>
            </a:pPr>
            <a:r>
              <a:rPr lang="en-US" sz="1800" b="1" dirty="0">
                <a:solidFill>
                  <a:srgbClr val="34D399"/>
                </a:solidFill>
                <a:latin typeface="Consolas" pitchFamily="34" charset="0"/>
                <a:ea typeface="Consolas" pitchFamily="34" charset="-122"/>
                <a:cs typeface="Consolas" pitchFamily="34" charset="-120"/>
              </a:rPr>
              <a:t>exec</a:t>
            </a:r>
            <a:endParaRPr lang="en-US" sz="1800" dirty="0"/>
          </a:p>
        </p:txBody>
      </p:sp>
      <p:sp>
        <p:nvSpPr>
          <p:cNvPr id="7" name="Text 5"/>
          <p:cNvSpPr/>
          <p:nvPr/>
        </p:nvSpPr>
        <p:spPr>
          <a:xfrm>
            <a:off x="914400" y="2194560"/>
            <a:ext cx="3291840" cy="7315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The REPL externalized as a CLI</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command any agent can use.</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Single invocation, full exploration.</a:t>
            </a:r>
            <a:endParaRPr lang="en-US" sz="1200" dirty="0"/>
          </a:p>
        </p:txBody>
      </p:sp>
      <p:sp>
        <p:nvSpPr>
          <p:cNvPr id="8" name="Shape 6"/>
          <p:cNvSpPr/>
          <p:nvPr/>
        </p:nvSpPr>
        <p:spPr>
          <a:xfrm>
            <a:off x="4754880" y="1645920"/>
            <a:ext cx="3657600" cy="146304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Shape 7"/>
          <p:cNvSpPr/>
          <p:nvPr/>
        </p:nvSpPr>
        <p:spPr>
          <a:xfrm>
            <a:off x="4754880" y="1645920"/>
            <a:ext cx="3657600" cy="54864"/>
          </a:xfrm>
          <a:prstGeom prst="rect">
            <a:avLst/>
          </a:prstGeom>
          <a:solidFill>
            <a:srgbClr val="38BDF8"/>
          </a:solidFill>
          <a:ln/>
        </p:spPr>
      </p:sp>
      <p:sp>
        <p:nvSpPr>
          <p:cNvPr id="10" name="Text 8"/>
          <p:cNvSpPr/>
          <p:nvPr/>
        </p:nvSpPr>
        <p:spPr>
          <a:xfrm>
            <a:off x="4937760" y="1783080"/>
            <a:ext cx="3291840" cy="320040"/>
          </a:xfrm>
          <a:prstGeom prst="rect">
            <a:avLst/>
          </a:prstGeom>
          <a:noFill/>
          <a:ln/>
        </p:spPr>
        <p:txBody>
          <a:bodyPr wrap="square" lIns="0" tIns="0" rIns="0" bIns="0" rtlCol="0" anchor="ctr"/>
          <a:lstStyle/>
          <a:p>
            <a:pPr indent="0" marL="0">
              <a:buNone/>
            </a:pPr>
            <a:r>
              <a:rPr lang="en-US" sz="1800" b="1" dirty="0">
                <a:solidFill>
                  <a:srgbClr val="38BDF8"/>
                </a:solidFill>
                <a:latin typeface="Consolas" pitchFamily="34" charset="0"/>
                <a:ea typeface="Consolas" pitchFamily="34" charset="-122"/>
                <a:cs typeface="Consolas" pitchFamily="34" charset="-120"/>
              </a:rPr>
              <a:t>verify</a:t>
            </a:r>
            <a:endParaRPr lang="en-US" sz="1800" dirty="0"/>
          </a:p>
        </p:txBody>
      </p:sp>
      <p:sp>
        <p:nvSpPr>
          <p:cNvPr id="11" name="Text 9"/>
          <p:cNvSpPr/>
          <p:nvPr/>
        </p:nvSpPr>
        <p:spPr>
          <a:xfrm>
            <a:off x="4937760" y="2194560"/>
            <a:ext cx="3291840" cy="7315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render, calc, lint as a lightweight</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add-on for agents that already</a:t>
            </a:r>
            <a:endParaRPr lang="en-US" sz="1200" dirty="0"/>
          </a:p>
          <a:p>
            <a:pPr indent="0" marL="0">
              <a:buNone/>
            </a:pPr>
            <a:r>
              <a:rPr lang="en-US" sz="1200" dirty="0">
                <a:solidFill>
                  <a:srgbClr val="B4BCD0"/>
                </a:solidFill>
                <a:latin typeface="Arial" pitchFamily="34" charset="0"/>
                <a:ea typeface="Arial" pitchFamily="34" charset="-122"/>
                <a:cs typeface="Arial" pitchFamily="34" charset="-120"/>
              </a:rPr>
              <a:t>have their own spreadsheet tools.</a:t>
            </a:r>
            <a:endParaRPr lang="en-US" sz="1200" dirty="0"/>
          </a:p>
        </p:txBody>
      </p:sp>
      <p:sp>
        <p:nvSpPr>
          <p:cNvPr id="12" name="Shape 10"/>
          <p:cNvSpPr/>
          <p:nvPr/>
        </p:nvSpPr>
        <p:spPr>
          <a:xfrm>
            <a:off x="731520" y="3474720"/>
            <a:ext cx="7680960" cy="10972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3" name="Text 11"/>
          <p:cNvSpPr/>
          <p:nvPr/>
        </p:nvSpPr>
        <p:spPr>
          <a:xfrm>
            <a:off x="1005840" y="3611880"/>
            <a:ext cx="7132320" cy="731520"/>
          </a:xfrm>
          <a:prstGeom prst="rect">
            <a:avLst/>
          </a:prstGeom>
          <a:noFill/>
          <a:ln/>
        </p:spPr>
        <p:txBody>
          <a:bodyPr wrap="square" lIns="0" tIns="0" rIns="0" bIns="0" rtlCol="0" anchor="ctr"/>
          <a:lstStyle/>
          <a:p>
            <a:pPr indent="0" marL="0">
              <a:buNone/>
            </a:pPr>
            <a:r>
              <a:rPr lang="en-US" sz="1600" i="1" dirty="0">
                <a:solidFill>
                  <a:srgbClr val="F59E0B"/>
                </a:solidFill>
                <a:latin typeface="Arial" pitchFamily="34" charset="0"/>
                <a:ea typeface="Arial" pitchFamily="34" charset="-122"/>
                <a:cs typeface="Arial" pitchFamily="34" charset="-120"/>
              </a:rPr>
              <a:t>The most important test isn't the one that confirms your assumptions —</a:t>
            </a:r>
            <a:endParaRPr lang="en-US" sz="1600" dirty="0"/>
          </a:p>
          <a:p>
            <a:pPr indent="0" marL="0">
              <a:buNone/>
            </a:pPr>
            <a:r>
              <a:rPr lang="en-US" sz="1600" i="1" dirty="0">
                <a:solidFill>
                  <a:srgbClr val="F59E0B"/>
                </a:solidFill>
                <a:latin typeface="Arial" pitchFamily="34" charset="0"/>
                <a:ea typeface="Arial" pitchFamily="34" charset="-122"/>
                <a:cs typeface="Arial" pitchFamily="34" charset="-120"/>
              </a:rPr>
              <a:t>it's the one that reveals your product.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Domain knowledge outlived every tool</a:t>
            </a:r>
            <a:endParaRPr lang="en-US" sz="2800" dirty="0"/>
          </a:p>
        </p:txBody>
      </p:sp>
      <p:sp>
        <p:nvSpPr>
          <p:cNvPr id="3" name="Text 1"/>
          <p:cNvSpPr/>
          <p:nvPr/>
        </p:nvSpPr>
        <p:spPr>
          <a:xfrm>
            <a:off x="731520" y="1097280"/>
            <a:ext cx="1371600" cy="2560320"/>
          </a:xfrm>
          <a:prstGeom prst="rect">
            <a:avLst/>
          </a:prstGeom>
          <a:noFill/>
          <a:ln/>
        </p:spPr>
        <p:txBody>
          <a:bodyPr wrap="square" lIns="0" tIns="0" rIns="0" bIns="0" rtlCol="0" anchor="ctr"/>
          <a:lstStyle/>
          <a:p>
            <a:pPr algn="ctr" indent="0" marL="0">
              <a:buNone/>
            </a:pPr>
            <a:r>
              <a:rPr lang="en-US" sz="1300" dirty="0">
                <a:solidFill>
                  <a:srgbClr val="B4BCD0"/>
                </a:solidFill>
                <a:latin typeface="Consolas" pitchFamily="34" charset="0"/>
                <a:ea typeface="Consolas" pitchFamily="34" charset="-122"/>
                <a:cs typeface="Consolas" pitchFamily="34" charset="-120"/>
              </a:rPr>
              <a:t>openpyxl</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xlwings</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Witan CLI</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a:t>
            </a:r>
            <a:endParaRPr lang="en-US" sz="1300" dirty="0"/>
          </a:p>
          <a:p>
            <a:pPr algn="ctr" indent="0" marL="0">
              <a:buNone/>
            </a:pPr>
            <a:r>
              <a:rPr lang="en-US" sz="1300" dirty="0">
                <a:solidFill>
                  <a:srgbClr val="B4BCD0"/>
                </a:solidFill>
                <a:latin typeface="Consolas" pitchFamily="34" charset="0"/>
                <a:ea typeface="Consolas" pitchFamily="34" charset="-122"/>
                <a:cs typeface="Consolas" pitchFamily="34" charset="-120"/>
              </a:rPr>
              <a:t>REPL</a:t>
            </a:r>
            <a:endParaRPr lang="en-US" sz="1300" dirty="0"/>
          </a:p>
        </p:txBody>
      </p:sp>
      <p:sp>
        <p:nvSpPr>
          <p:cNvPr id="4" name="Shape 2"/>
          <p:cNvSpPr/>
          <p:nvPr/>
        </p:nvSpPr>
        <p:spPr>
          <a:xfrm>
            <a:off x="2103120" y="2103120"/>
            <a:ext cx="1097280" cy="0"/>
          </a:xfrm>
          <a:prstGeom prst="line">
            <a:avLst/>
          </a:prstGeom>
          <a:noFill/>
          <a:ln w="25400">
            <a:solidFill>
              <a:srgbClr val="F59E0B"/>
            </a:solidFill>
            <a:prstDash val="solid"/>
          </a:ln>
        </p:spPr>
      </p:sp>
      <p:sp>
        <p:nvSpPr>
          <p:cNvPr id="5" name="Text 3"/>
          <p:cNvSpPr/>
          <p:nvPr/>
        </p:nvSpPr>
        <p:spPr>
          <a:xfrm>
            <a:off x="2743200" y="1874520"/>
            <a:ext cx="548640" cy="457200"/>
          </a:xfrm>
          <a:prstGeom prst="rect">
            <a:avLst/>
          </a:prstGeom>
          <a:noFill/>
          <a:ln/>
        </p:spPr>
        <p:txBody>
          <a:bodyPr wrap="square" lIns="0" tIns="0" rIns="0" bIns="0" rtlCol="0" anchor="ctr"/>
          <a:lstStyle/>
          <a:p>
            <a:pPr indent="0" marL="0">
              <a:buNone/>
            </a:pPr>
            <a:r>
              <a:rPr lang="en-US" sz="2000" dirty="0">
                <a:solidFill>
                  <a:srgbClr val="F59E0B"/>
                </a:solidFill>
                <a:latin typeface="Arial" pitchFamily="34" charset="0"/>
                <a:ea typeface="Arial" pitchFamily="34" charset="-122"/>
                <a:cs typeface="Arial" pitchFamily="34" charset="-120"/>
              </a:rPr>
              <a:t>→</a:t>
            </a:r>
            <a:endParaRPr lang="en-US" sz="2000" dirty="0"/>
          </a:p>
        </p:txBody>
      </p:sp>
      <p:sp>
        <p:nvSpPr>
          <p:cNvPr id="6" name="Shape 4"/>
          <p:cNvSpPr/>
          <p:nvPr/>
        </p:nvSpPr>
        <p:spPr>
          <a:xfrm>
            <a:off x="3474720" y="1097280"/>
            <a:ext cx="4937760" cy="274320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7" name="Text 5"/>
          <p:cNvSpPr/>
          <p:nvPr/>
        </p:nvSpPr>
        <p:spPr>
          <a:xfrm>
            <a:off x="3749040" y="1234440"/>
            <a:ext cx="4389120" cy="320040"/>
          </a:xfrm>
          <a:prstGeom prst="rect">
            <a:avLst/>
          </a:prstGeom>
          <a:noFill/>
          <a:ln/>
        </p:spPr>
        <p:txBody>
          <a:bodyPr wrap="square" lIns="0" tIns="0" rIns="0" bIns="0" rtlCol="0" anchor="ctr"/>
          <a:lstStyle/>
          <a:p>
            <a:pPr indent="0" marL="0">
              <a:buNone/>
            </a:pPr>
            <a:r>
              <a:rPr lang="en-US" sz="1600" b="1" dirty="0">
                <a:solidFill>
                  <a:srgbClr val="F59E0B"/>
                </a:solidFill>
                <a:latin typeface="Consolas" pitchFamily="34" charset="0"/>
                <a:ea typeface="Consolas" pitchFamily="34" charset="-122"/>
                <a:cs typeface="Consolas" pitchFamily="34" charset="-120"/>
              </a:rPr>
              <a:t>Financial domain knowledge</a:t>
            </a:r>
            <a:endParaRPr lang="en-US" sz="1600" dirty="0"/>
          </a:p>
        </p:txBody>
      </p:sp>
      <p:sp>
        <p:nvSpPr>
          <p:cNvPr id="8" name="Text 6"/>
          <p:cNvSpPr/>
          <p:nvPr/>
        </p:nvSpPr>
        <p:spPr>
          <a:xfrm>
            <a:off x="3749040" y="1554480"/>
            <a:ext cx="4389120" cy="274320"/>
          </a:xfrm>
          <a:prstGeom prst="rect">
            <a:avLst/>
          </a:prstGeom>
          <a:noFill/>
          <a:ln/>
        </p:spPr>
        <p:txBody>
          <a:bodyPr wrap="square" lIns="0" tIns="0" rIns="0" bIns="0" rtlCol="0" anchor="ctr"/>
          <a:lstStyle/>
          <a:p>
            <a:pPr indent="0" marL="0">
              <a:buNone/>
            </a:pPr>
            <a:r>
              <a:rPr lang="en-US" sz="1300" dirty="0">
                <a:solidFill>
                  <a:srgbClr val="34D399"/>
                </a:solidFill>
                <a:latin typeface="Arial" pitchFamily="34" charset="0"/>
                <a:ea typeface="Arial" pitchFamily="34" charset="-122"/>
                <a:cs typeface="Arial" pitchFamily="34" charset="-120"/>
              </a:rPr>
              <a:t>Improved results on all four backends</a:t>
            </a:r>
            <a:endParaRPr lang="en-US" sz="1300" dirty="0"/>
          </a:p>
        </p:txBody>
      </p:sp>
      <p:sp>
        <p:nvSpPr>
          <p:cNvPr id="9" name="Text 7"/>
          <p:cNvSpPr/>
          <p:nvPr/>
        </p:nvSpPr>
        <p:spPr>
          <a:xfrm>
            <a:off x="3749040" y="2148840"/>
            <a:ext cx="4389120" cy="14630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How to interpret margins, profitability,</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revenue cascades through COGS</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Model type recognition</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(DCF, LBO, three-statement)</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Communication conventions</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($1.2M not $1,234,567.89)</a:t>
            </a:r>
            <a:endParaRPr lang="en-US" sz="1200" dirty="0"/>
          </a:p>
          <a:p>
            <a:pPr marL="342900" indent="-342900">
              <a:spcAft>
                <a:spcPts val="600"/>
              </a:spcAft>
              <a:buSzPct val="100000"/>
              <a:buChar char="•"/>
            </a:pPr>
            <a:r>
              <a:rPr lang="en-US" sz="1200" i="1" dirty="0">
                <a:solidFill>
                  <a:srgbClr val="FFFFFF"/>
                </a:solidFill>
                <a:latin typeface="Arial" pitchFamily="34" charset="0"/>
                <a:ea typeface="Arial" pitchFamily="34" charset="-122"/>
                <a:cs typeface="Arial" pitchFamily="34" charset="-120"/>
              </a:rPr>
              <a:t>"Never calculate in your head what the</a:t>
            </a:r>
            <a:endParaRPr lang="en-US" sz="1200" dirty="0"/>
          </a:p>
          <a:p>
            <a:pPr marL="342900" indent="-342900">
              <a:spcAft>
                <a:spcPts val="600"/>
              </a:spcAft>
              <a:buSzPct val="100000"/>
              <a:buChar char="•"/>
            </a:pPr>
            <a:r>
              <a:rPr lang="en-US" sz="1200" i="1" dirty="0">
                <a:solidFill>
                  <a:srgbClr val="FFFFFF"/>
                </a:solidFill>
                <a:latin typeface="Arial" pitchFamily="34" charset="0"/>
                <a:ea typeface="Arial" pitchFamily="34" charset="-122"/>
                <a:cs typeface="Arial" pitchFamily="34" charset="-120"/>
              </a:rPr>
              <a:t>spreadsheet can calculate for you"</a:t>
            </a:r>
            <a:endParaRPr lang="en-US" sz="1200" dirty="0"/>
          </a:p>
        </p:txBody>
      </p:sp>
      <p:sp>
        <p:nvSpPr>
          <p:cNvPr id="10" name="Text 8"/>
          <p:cNvSpPr/>
          <p:nvPr/>
        </p:nvSpPr>
        <p:spPr>
          <a:xfrm>
            <a:off x="731520" y="4023360"/>
            <a:ext cx="768096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If you're building a domain-specific agent, the domain knowledge is the product.</a:t>
            </a:r>
            <a:endParaRPr lang="en-US" sz="1500" dirty="0"/>
          </a:p>
          <a:p>
            <a:pPr indent="0" marL="0">
              <a:buNone/>
            </a:pPr>
            <a:r>
              <a:rPr lang="en-US" sz="1500" b="1" dirty="0">
                <a:solidFill>
                  <a:srgbClr val="FFFFFF"/>
                </a:solidFill>
                <a:latin typeface="Arial" pitchFamily="34" charset="0"/>
                <a:ea typeface="Arial" pitchFamily="34" charset="-122"/>
                <a:cs typeface="Arial" pitchFamily="34" charset="-120"/>
              </a:rPr>
              <a:t>The tools are replaceable.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Stop using LLMs to grade LLMs</a:t>
            </a:r>
            <a:endParaRPr lang="en-US" sz="2800" dirty="0"/>
          </a:p>
        </p:txBody>
      </p:sp>
      <p:sp>
        <p:nvSpPr>
          <p:cNvPr id="3" name="Text 1"/>
          <p:cNvSpPr/>
          <p:nvPr/>
        </p:nvSpPr>
        <p:spPr>
          <a:xfrm>
            <a:off x="731520" y="1051560"/>
            <a:ext cx="7680960" cy="32004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Started with: </a:t>
            </a:r>
            <a:pPr indent="0" marL="0">
              <a:buNone/>
            </a:pPr>
            <a:r>
              <a:rPr lang="en-US" sz="1300" dirty="0">
                <a:solidFill>
                  <a:srgbClr val="FFFFFF"/>
                </a:solidFill>
                <a:latin typeface="Arial" pitchFamily="34" charset="0"/>
                <a:ea typeface="Arial" pitchFamily="34" charset="-122"/>
                <a:cs typeface="Arial" pitchFamily="34" charset="-120"/>
              </a:rPr>
              <a:t>LLM-as-judge comparing output to gold standard</a:t>
            </a:r>
            <a:endParaRPr lang="en-US" sz="1300" dirty="0"/>
          </a:p>
        </p:txBody>
      </p:sp>
      <p:sp>
        <p:nvSpPr>
          <p:cNvPr id="4" name="Text 2"/>
          <p:cNvSpPr/>
          <p:nvPr/>
        </p:nvSpPr>
        <p:spPr>
          <a:xfrm>
            <a:off x="731520" y="1371600"/>
            <a:ext cx="7680960" cy="320040"/>
          </a:xfrm>
          <a:prstGeom prst="rect">
            <a:avLst/>
          </a:prstGeom>
          <a:noFill/>
          <a:ln/>
        </p:spPr>
        <p:txBody>
          <a:bodyPr wrap="square" lIns="0" tIns="0" rIns="0" bIns="0" rtlCol="0" anchor="ctr"/>
          <a:lstStyle/>
          <a:p>
            <a:pPr indent="0" marL="0">
              <a:buNone/>
            </a:pPr>
            <a:r>
              <a:rPr lang="en-US" sz="1300" dirty="0">
                <a:solidFill>
                  <a:srgbClr val="F87171"/>
                </a:solidFill>
                <a:latin typeface="Arial" pitchFamily="34" charset="0"/>
                <a:ea typeface="Arial" pitchFamily="34" charset="-122"/>
                <a:cs typeface="Arial" pitchFamily="34" charset="-120"/>
              </a:rPr>
              <a:t>Problem: </a:t>
            </a:r>
            <a:pPr indent="0" marL="0">
              <a:buNone/>
            </a:pPr>
            <a:r>
              <a:rPr lang="en-US" sz="1300" dirty="0">
                <a:solidFill>
                  <a:srgbClr val="B4BCD0"/>
                </a:solidFill>
                <a:latin typeface="Arial" pitchFamily="34" charset="0"/>
                <a:ea typeface="Arial" pitchFamily="34" charset="-122"/>
                <a:cs typeface="Arial" pitchFamily="34" charset="-120"/>
              </a:rPr>
              <a:t>Inconsistent judgments that masked real regressions</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1920240"/>
          <a:ext cx="7680960" cy="914400"/>
        </p:xfrm>
        <a:graphic>
          <a:graphicData uri="http://schemas.openxmlformats.org/drawingml/2006/table">
            <a:tbl>
              <a:tblPr/>
              <a:tblGrid>
                <a:gridCol w="1645920"/>
                <a:gridCol w="6035040"/>
              </a:tblGrid>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Strategy</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Content</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Set similarity (Jaccard ≥ 70%)</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Structure</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Row-level sequence alignment (dynamic programming)</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Visual</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Font / color / format comparison (≥ 90%)</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Scenarios</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Set inputs, recalculate, compare outputs</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r h="320040">
                <a:tc>
                  <a:txBody>
                    <a:bodyPr/>
                    <a:lstStyle/>
                    <a:p>
                      <a:pPr indent="0" marL="0">
                        <a:buNone/>
                      </a:pPr>
                      <a:r>
                        <a:rPr lang="en-US" sz="1200" dirty="0">
                          <a:solidFill>
                            <a:srgbClr val="FFFFFF"/>
                          </a:solidFill>
                          <a:latin typeface="Arial" pitchFamily="34" charset="0"/>
                          <a:ea typeface="Arial" pitchFamily="34" charset="-122"/>
                          <a:cs typeface="Arial" pitchFamily="34" charset="-120"/>
                        </a:rPr>
                        <a:t>Text</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c>
                  <a:txBody>
                    <a:bodyPr/>
                    <a:lstStyle/>
                    <a:p>
                      <a:pPr indent="0" marL="0">
                        <a:buNone/>
                      </a:pPr>
                      <a:r>
                        <a:rPr lang="en-US" sz="1200" dirty="0">
                          <a:solidFill>
                            <a:srgbClr val="FFFFFF"/>
                          </a:solidFill>
                          <a:latin typeface="Arial" pitchFamily="34" charset="0"/>
                          <a:ea typeface="Arial" pitchFamily="34" charset="-122"/>
                          <a:cs typeface="Arial" pitchFamily="34" charset="-120"/>
                        </a:rPr>
                        <a:t>LLM grading — only for genuinely subjective answers</a:t>
                      </a:r>
                      <a:endParaRPr lang="en-US" sz="1200" dirty="0">
                        <a:latin typeface="Arial" charset="0"/>
                        <a:ea typeface="Arial" charset="0"/>
                        <a:cs typeface="Arial" charset="0"/>
                      </a:endParaRPr>
                    </a:p>
                  </a:txBody>
                  <a:tcPr marL="91440" marR="91440" marT="45720" marB="45720">
                    <a:lnL w="6350" cap="flat" cmpd="sng" algn="ctr">
                      <a:solidFill>
                        <a:srgbClr val="282D3F"/>
                      </a:solidFill>
                      <a:prstDash val="solid"/>
                      <a:round/>
                      <a:headEnd type="none" w="med" len="med"/>
                      <a:tailEnd type="none" w="med" len="med"/>
                    </a:lnL>
                    <a:lnR w="6350" cap="flat" cmpd="sng" algn="ctr">
                      <a:solidFill>
                        <a:srgbClr val="282D3F"/>
                      </a:solidFill>
                      <a:prstDash val="solid"/>
                      <a:round/>
                      <a:headEnd type="none" w="med" len="med"/>
                      <a:tailEnd type="none" w="med" len="med"/>
                    </a:lnR>
                    <a:lnT w="6350" cap="flat" cmpd="sng" algn="ctr">
                      <a:solidFill>
                        <a:srgbClr val="282D3F"/>
                      </a:solidFill>
                      <a:prstDash val="solid"/>
                      <a:round/>
                      <a:headEnd type="none" w="med" len="med"/>
                      <a:tailEnd type="none" w="med" len="med"/>
                    </a:lnT>
                    <a:lnB w="6350" cap="flat" cmpd="sng" algn="ctr">
                      <a:solidFill>
                        <a:srgbClr val="282D3F"/>
                      </a:solidFill>
                      <a:prstDash val="solid"/>
                      <a:round/>
                      <a:headEnd type="none" w="med" len="med"/>
                      <a:tailEnd type="none" w="med" len="med"/>
                    </a:lnB>
                  </a:tcPr>
                </a:tc>
              </a:tr>
            </a:tbl>
          </a:graphicData>
        </a:graphic>
      </p:graphicFrame>
      <p:sp>
        <p:nvSpPr>
          <p:cNvPr id="6" name="Shape 3"/>
          <p:cNvSpPr/>
          <p:nvPr/>
        </p:nvSpPr>
        <p:spPr>
          <a:xfrm>
            <a:off x="731520" y="1920240"/>
            <a:ext cx="7680960" cy="320040"/>
          </a:xfrm>
          <a:prstGeom prst="rect">
            <a:avLst/>
          </a:prstGeom>
          <a:solidFill>
            <a:srgbClr val="282D3F"/>
          </a:solidFill>
          <a:ln/>
        </p:spPr>
      </p:sp>
      <p:sp>
        <p:nvSpPr>
          <p:cNvPr id="7" name="Text 4"/>
          <p:cNvSpPr/>
          <p:nvPr/>
        </p:nvSpPr>
        <p:spPr>
          <a:xfrm>
            <a:off x="731520" y="1920240"/>
            <a:ext cx="1645920" cy="320040"/>
          </a:xfrm>
          <a:prstGeom prst="rect">
            <a:avLst/>
          </a:prstGeom>
          <a:noFill/>
          <a:ln/>
        </p:spPr>
        <p:txBody>
          <a:bodyPr wrap="square" lIns="0" tIns="6350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Strategy</a:t>
            </a:r>
            <a:endParaRPr lang="en-US" sz="1200" dirty="0"/>
          </a:p>
        </p:txBody>
      </p:sp>
      <p:sp>
        <p:nvSpPr>
          <p:cNvPr id="8" name="Text 5"/>
          <p:cNvSpPr/>
          <p:nvPr/>
        </p:nvSpPr>
        <p:spPr>
          <a:xfrm>
            <a:off x="2377440" y="1920240"/>
            <a:ext cx="6035040" cy="320040"/>
          </a:xfrm>
          <a:prstGeom prst="rect">
            <a:avLst/>
          </a:prstGeom>
          <a:noFill/>
          <a:ln/>
        </p:spPr>
        <p:txBody>
          <a:bodyPr wrap="square" lIns="0" tIns="63500" rIns="0" bIns="0" rtlCol="0" anchor="ctr"/>
          <a:lstStyle/>
          <a:p>
            <a:pPr indent="0" marL="0">
              <a:buNone/>
            </a:pPr>
            <a:r>
              <a:rPr lang="en-US" sz="1200" b="1" dirty="0">
                <a:solidFill>
                  <a:srgbClr val="38BDF8"/>
                </a:solidFill>
                <a:latin typeface="Arial" pitchFamily="34" charset="0"/>
                <a:ea typeface="Arial" pitchFamily="34" charset="-122"/>
                <a:cs typeface="Arial" pitchFamily="34" charset="-120"/>
              </a:rPr>
              <a:t>Method</a:t>
            </a:r>
            <a:endParaRPr lang="en-US" sz="1200" dirty="0"/>
          </a:p>
        </p:txBody>
      </p:sp>
      <p:sp>
        <p:nvSpPr>
          <p:cNvPr id="9" name="Text 6"/>
          <p:cNvSpPr/>
          <p:nvPr/>
        </p:nvSpPr>
        <p:spPr>
          <a:xfrm>
            <a:off x="731520" y="4023360"/>
            <a:ext cx="7680960" cy="640080"/>
          </a:xfrm>
          <a:prstGeom prst="rect">
            <a:avLst/>
          </a:prstGeom>
          <a:noFill/>
          <a:ln/>
        </p:spPr>
        <p:txBody>
          <a:bodyPr wrap="square" lIns="0" tIns="0" rIns="0" bIns="0" rtlCol="0" anchor="ctr"/>
          <a:lstStyle/>
          <a:p>
            <a:pPr indent="0" marL="0">
              <a:buNone/>
            </a:pPr>
            <a:r>
              <a:rPr lang="en-US" sz="2800" b="1" dirty="0">
                <a:solidFill>
                  <a:srgbClr val="F59E0B"/>
                </a:solidFill>
                <a:latin typeface="Consolas" pitchFamily="34" charset="0"/>
                <a:ea typeface="Consolas" pitchFamily="34" charset="-122"/>
                <a:cs typeface="Consolas" pitchFamily="34" charset="-120"/>
              </a:rPr>
              <a:t>29,000 </a:t>
            </a:r>
            <a:pPr indent="0" marL="0">
              <a:buNone/>
            </a:pPr>
            <a:r>
              <a:rPr lang="en-US" sz="1400" dirty="0">
                <a:solidFill>
                  <a:srgbClr val="B4BCD0"/>
                </a:solidFill>
                <a:latin typeface="Arial" pitchFamily="34" charset="0"/>
                <a:ea typeface="Arial" pitchFamily="34" charset="-122"/>
                <a:cs typeface="Arial" pitchFamily="34" charset="-120"/>
              </a:rPr>
              <a:t>lines of eval code    </a:t>
            </a:r>
            <a:pPr indent="0" marL="0">
              <a:buNone/>
            </a:pPr>
            <a:r>
              <a:rPr lang="en-US" sz="2800" b="1" dirty="0">
                <a:solidFill>
                  <a:srgbClr val="F59E0B"/>
                </a:solidFill>
                <a:latin typeface="Consolas" pitchFamily="34" charset="0"/>
                <a:ea typeface="Consolas" pitchFamily="34" charset="-122"/>
                <a:cs typeface="Consolas" pitchFamily="34" charset="-120"/>
              </a:rPr>
              <a:t>568 </a:t>
            </a:r>
            <a:pPr indent="0" marL="0">
              <a:buNone/>
            </a:pPr>
            <a:r>
              <a:rPr lang="en-US" sz="1400" dirty="0">
                <a:solidFill>
                  <a:srgbClr val="B4BCD0"/>
                </a:solidFill>
                <a:latin typeface="Arial" pitchFamily="34" charset="0"/>
                <a:ea typeface="Arial" pitchFamily="34" charset="-122"/>
                <a:cs typeface="Arial" pitchFamily="34" charset="-120"/>
              </a:rPr>
              <a:t>commits</a:t>
            </a:r>
            <a:endParaRPr 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Infrastructure bugs masquerade as reasoning failures</a:t>
            </a:r>
            <a:endParaRPr lang="en-US" sz="2800" dirty="0"/>
          </a:p>
        </p:txBody>
      </p:sp>
      <p:sp>
        <p:nvSpPr>
          <p:cNvPr id="3" name="Shape 1"/>
          <p:cNvSpPr/>
          <p:nvPr/>
        </p:nvSpPr>
        <p:spPr>
          <a:xfrm>
            <a:off x="731520" y="1188720"/>
            <a:ext cx="7680960" cy="6400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4" name="Text 2"/>
          <p:cNvSpPr/>
          <p:nvPr/>
        </p:nvSpPr>
        <p:spPr>
          <a:xfrm>
            <a:off x="914400" y="1261872"/>
            <a:ext cx="2743200" cy="2743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Agent can't find data</a:t>
            </a:r>
            <a:endParaRPr lang="en-US" sz="1200" dirty="0"/>
          </a:p>
        </p:txBody>
      </p:sp>
      <p:sp>
        <p:nvSpPr>
          <p:cNvPr id="5" name="Text 3"/>
          <p:cNvSpPr/>
          <p:nvPr/>
        </p:nvSpPr>
        <p:spPr>
          <a:xfrm>
            <a:off x="3657600" y="1261872"/>
            <a:ext cx="365760" cy="274320"/>
          </a:xfrm>
          <a:prstGeom prst="rect">
            <a:avLst/>
          </a:prstGeom>
          <a:noFill/>
          <a:ln/>
        </p:spPr>
        <p:txBody>
          <a:bodyPr wrap="square" lIns="0" tIns="0" rIns="0" bIns="0" rtlCol="0" anchor="ctr"/>
          <a:lstStyle/>
          <a:p>
            <a:pPr algn="ctr" indent="0" marL="0">
              <a:buNone/>
            </a:pPr>
            <a:r>
              <a:rPr lang="en-US" sz="1400" dirty="0">
                <a:solidFill>
                  <a:srgbClr val="B4BCD0"/>
                </a:solidFill>
                <a:latin typeface="Arial" pitchFamily="34" charset="0"/>
                <a:ea typeface="Arial" pitchFamily="34" charset="-122"/>
                <a:cs typeface="Arial" pitchFamily="34" charset="-120"/>
              </a:rPr>
              <a:t>→</a:t>
            </a:r>
            <a:endParaRPr lang="en-US" sz="1400" dirty="0"/>
          </a:p>
        </p:txBody>
      </p:sp>
      <p:sp>
        <p:nvSpPr>
          <p:cNvPr id="6" name="Text 4"/>
          <p:cNvSpPr/>
          <p:nvPr/>
        </p:nvSpPr>
        <p:spPr>
          <a:xfrm>
            <a:off x="4023360" y="1261872"/>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One-character extraction bug</a:t>
            </a:r>
            <a:endParaRPr lang="en-US" sz="1200" dirty="0"/>
          </a:p>
        </p:txBody>
      </p:sp>
      <p:sp>
        <p:nvSpPr>
          <p:cNvPr id="7" name="Text 5"/>
          <p:cNvSpPr/>
          <p:nvPr/>
        </p:nvSpPr>
        <p:spPr>
          <a:xfrm>
            <a:off x="914400" y="1536192"/>
            <a:ext cx="6400800" cy="228600"/>
          </a:xfrm>
          <a:prstGeom prst="rect">
            <a:avLst/>
          </a:prstGeom>
          <a:noFill/>
          <a:ln/>
        </p:spPr>
        <p:txBody>
          <a:bodyPr wrap="square" lIns="0" tIns="0" rIns="0" bIns="0" rtlCol="0" anchor="ctr"/>
          <a:lstStyle/>
          <a:p>
            <a:pPr indent="0" marL="0">
              <a:buNone/>
            </a:pPr>
            <a:r>
              <a:rPr lang="en-US" sz="1000" dirty="0">
                <a:solidFill>
                  <a:srgbClr val="34D399"/>
                </a:solidFill>
                <a:latin typeface="Consolas" pitchFamily="34" charset="0"/>
                <a:ea typeface="Consolas" pitchFamily="34" charset="-122"/>
                <a:cs typeface="Consolas" pitchFamily="34" charset="-120"/>
              </a:rPr>
              <a:t>50% → 73%</a:t>
            </a:r>
            <a:endParaRPr lang="en-US" sz="1000" dirty="0"/>
          </a:p>
        </p:txBody>
      </p:sp>
      <p:sp>
        <p:nvSpPr>
          <p:cNvPr id="8" name="Shape 6"/>
          <p:cNvSpPr/>
          <p:nvPr/>
        </p:nvSpPr>
        <p:spPr>
          <a:xfrm>
            <a:off x="731520" y="1965960"/>
            <a:ext cx="7680960" cy="6400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9" name="Text 7"/>
          <p:cNvSpPr/>
          <p:nvPr/>
        </p:nvSpPr>
        <p:spPr>
          <a:xfrm>
            <a:off x="914400" y="2039112"/>
            <a:ext cx="2743200" cy="2743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Agent uses wrong quoting</a:t>
            </a:r>
            <a:endParaRPr lang="en-US" sz="1200" dirty="0"/>
          </a:p>
        </p:txBody>
      </p:sp>
      <p:sp>
        <p:nvSpPr>
          <p:cNvPr id="10" name="Text 8"/>
          <p:cNvSpPr/>
          <p:nvPr/>
        </p:nvSpPr>
        <p:spPr>
          <a:xfrm>
            <a:off x="3657600" y="2039112"/>
            <a:ext cx="365760" cy="274320"/>
          </a:xfrm>
          <a:prstGeom prst="rect">
            <a:avLst/>
          </a:prstGeom>
          <a:noFill/>
          <a:ln/>
        </p:spPr>
        <p:txBody>
          <a:bodyPr wrap="square" lIns="0" tIns="0" rIns="0" bIns="0" rtlCol="0" anchor="ctr"/>
          <a:lstStyle/>
          <a:p>
            <a:pPr algn="ctr" indent="0" marL="0">
              <a:buNone/>
            </a:pPr>
            <a:r>
              <a:rPr lang="en-US" sz="1400" dirty="0">
                <a:solidFill>
                  <a:srgbClr val="B4BCD0"/>
                </a:solidFill>
                <a:latin typeface="Arial" pitchFamily="34" charset="0"/>
                <a:ea typeface="Arial" pitchFamily="34" charset="-122"/>
                <a:cs typeface="Arial" pitchFamily="34" charset="-120"/>
              </a:rPr>
              <a:t>→</a:t>
            </a:r>
            <a:endParaRPr lang="en-US" sz="1400" dirty="0"/>
          </a:p>
        </p:txBody>
      </p:sp>
      <p:sp>
        <p:nvSpPr>
          <p:cNvPr id="11" name="Text 9"/>
          <p:cNvSpPr/>
          <p:nvPr/>
        </p:nvSpPr>
        <p:spPr>
          <a:xfrm>
            <a:off x="4023360" y="2039112"/>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SKILL.md had backwards examples</a:t>
            </a:r>
            <a:endParaRPr lang="en-US" sz="1200" dirty="0"/>
          </a:p>
        </p:txBody>
      </p:sp>
      <p:sp>
        <p:nvSpPr>
          <p:cNvPr id="12" name="Text 10"/>
          <p:cNvSpPr/>
          <p:nvPr/>
        </p:nvSpPr>
        <p:spPr>
          <a:xfrm>
            <a:off x="914400" y="2313432"/>
            <a:ext cx="6400800" cy="228600"/>
          </a:xfrm>
          <a:prstGeom prst="rect">
            <a:avLst/>
          </a:prstGeom>
          <a:noFill/>
          <a:ln/>
        </p:spPr>
        <p:txBody>
          <a:bodyPr wrap="square" lIns="0" tIns="0" rIns="0" bIns="0" rtlCol="0" anchor="ctr"/>
          <a:lstStyle/>
          <a:p>
            <a:pPr indent="0" marL="0">
              <a:buNone/>
            </a:pPr>
            <a:r>
              <a:rPr lang="en-US" sz="1000" dirty="0">
                <a:solidFill>
                  <a:srgbClr val="F59E0B"/>
                </a:solidFill>
                <a:latin typeface="Consolas" pitchFamily="34" charset="0"/>
                <a:ea typeface="Consolas" pitchFamily="34" charset="-122"/>
                <a:cs typeface="Consolas" pitchFamily="34" charset="-120"/>
              </a:rPr>
              <a:t>Agent trusted docs</a:t>
            </a:r>
            <a:endParaRPr lang="en-US" sz="1000" dirty="0"/>
          </a:p>
        </p:txBody>
      </p:sp>
      <p:sp>
        <p:nvSpPr>
          <p:cNvPr id="13" name="Shape 11"/>
          <p:cNvSpPr/>
          <p:nvPr/>
        </p:nvSpPr>
        <p:spPr>
          <a:xfrm>
            <a:off x="731520" y="2743200"/>
            <a:ext cx="7680960" cy="6400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4" name="Text 12"/>
          <p:cNvSpPr/>
          <p:nvPr/>
        </p:nvSpPr>
        <p:spPr>
          <a:xfrm>
            <a:off x="914400" y="2816352"/>
            <a:ext cx="2743200" cy="2743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Agent times out constantly</a:t>
            </a:r>
            <a:endParaRPr lang="en-US" sz="1200" dirty="0"/>
          </a:p>
        </p:txBody>
      </p:sp>
      <p:sp>
        <p:nvSpPr>
          <p:cNvPr id="15" name="Text 13"/>
          <p:cNvSpPr/>
          <p:nvPr/>
        </p:nvSpPr>
        <p:spPr>
          <a:xfrm>
            <a:off x="3657600" y="2816352"/>
            <a:ext cx="365760" cy="274320"/>
          </a:xfrm>
          <a:prstGeom prst="rect">
            <a:avLst/>
          </a:prstGeom>
          <a:noFill/>
          <a:ln/>
        </p:spPr>
        <p:txBody>
          <a:bodyPr wrap="square" lIns="0" tIns="0" rIns="0" bIns="0" rtlCol="0" anchor="ctr"/>
          <a:lstStyle/>
          <a:p>
            <a:pPr algn="ctr" indent="0" marL="0">
              <a:buNone/>
            </a:pPr>
            <a:r>
              <a:rPr lang="en-US" sz="1400" dirty="0">
                <a:solidFill>
                  <a:srgbClr val="B4BCD0"/>
                </a:solidFill>
                <a:latin typeface="Arial" pitchFamily="34" charset="0"/>
                <a:ea typeface="Arial" pitchFamily="34" charset="-122"/>
                <a:cs typeface="Arial" pitchFamily="34" charset="-120"/>
              </a:rPr>
              <a:t>→</a:t>
            </a:r>
            <a:endParaRPr lang="en-US" sz="1400" dirty="0"/>
          </a:p>
        </p:txBody>
      </p:sp>
      <p:sp>
        <p:nvSpPr>
          <p:cNvPr id="16" name="Text 14"/>
          <p:cNvSpPr/>
          <p:nvPr/>
        </p:nvSpPr>
        <p:spPr>
          <a:xfrm>
            <a:off x="4023360" y="2816352"/>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Per-cell recalc query, not batch</a:t>
            </a:r>
            <a:endParaRPr lang="en-US" sz="1200" dirty="0"/>
          </a:p>
        </p:txBody>
      </p:sp>
      <p:sp>
        <p:nvSpPr>
          <p:cNvPr id="17" name="Text 15"/>
          <p:cNvSpPr/>
          <p:nvPr/>
        </p:nvSpPr>
        <p:spPr>
          <a:xfrm>
            <a:off x="914400" y="3090672"/>
            <a:ext cx="6400800" cy="228600"/>
          </a:xfrm>
          <a:prstGeom prst="rect">
            <a:avLst/>
          </a:prstGeom>
          <a:noFill/>
          <a:ln/>
        </p:spPr>
        <p:txBody>
          <a:bodyPr wrap="square" lIns="0" tIns="0" rIns="0" bIns="0" rtlCol="0" anchor="ctr"/>
          <a:lstStyle/>
          <a:p>
            <a:pPr indent="0" marL="0">
              <a:buNone/>
            </a:pPr>
            <a:r>
              <a:rPr lang="en-US" sz="1000" dirty="0">
                <a:solidFill>
                  <a:srgbClr val="F87171"/>
                </a:solidFill>
                <a:latin typeface="Consolas" pitchFamily="34" charset="0"/>
                <a:ea typeface="Consolas" pitchFamily="34" charset="-122"/>
                <a:cs typeface="Consolas" pitchFamily="34" charset="-120"/>
              </a:rPr>
              <a:t>50-130s per op</a:t>
            </a:r>
            <a:endParaRPr lang="en-US" sz="1000" dirty="0"/>
          </a:p>
        </p:txBody>
      </p:sp>
      <p:sp>
        <p:nvSpPr>
          <p:cNvPr id="18" name="Shape 16"/>
          <p:cNvSpPr/>
          <p:nvPr/>
        </p:nvSpPr>
        <p:spPr>
          <a:xfrm>
            <a:off x="731520" y="3520440"/>
            <a:ext cx="7680960" cy="64008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19" name="Text 17"/>
          <p:cNvSpPr/>
          <p:nvPr/>
        </p:nvSpPr>
        <p:spPr>
          <a:xfrm>
            <a:off x="914400" y="3593592"/>
            <a:ext cx="2743200" cy="274320"/>
          </a:xfrm>
          <a:prstGeom prst="rect">
            <a:avLst/>
          </a:prstGeom>
          <a:noFill/>
          <a:ln/>
        </p:spPr>
        <p:txBody>
          <a:bodyPr wrap="square" lIns="0" tIns="0" rIns="0" bIns="0" rtlCol="0" anchor="ctr"/>
          <a:lstStyle/>
          <a:p>
            <a:pPr indent="0" marL="0">
              <a:buNone/>
            </a:pPr>
            <a:r>
              <a:rPr lang="en-US" sz="1200" dirty="0">
                <a:solidFill>
                  <a:srgbClr val="B4BCD0"/>
                </a:solidFill>
                <a:latin typeface="Arial" pitchFamily="34" charset="0"/>
                <a:ea typeface="Arial" pitchFamily="34" charset="-122"/>
                <a:cs typeface="Arial" pitchFamily="34" charset="-120"/>
              </a:rPr>
              <a:t>Agent retries endlessly</a:t>
            </a:r>
            <a:endParaRPr lang="en-US" sz="1200" dirty="0"/>
          </a:p>
        </p:txBody>
      </p:sp>
      <p:sp>
        <p:nvSpPr>
          <p:cNvPr id="20" name="Text 18"/>
          <p:cNvSpPr/>
          <p:nvPr/>
        </p:nvSpPr>
        <p:spPr>
          <a:xfrm>
            <a:off x="3657600" y="3593592"/>
            <a:ext cx="365760" cy="274320"/>
          </a:xfrm>
          <a:prstGeom prst="rect">
            <a:avLst/>
          </a:prstGeom>
          <a:noFill/>
          <a:ln/>
        </p:spPr>
        <p:txBody>
          <a:bodyPr wrap="square" lIns="0" tIns="0" rIns="0" bIns="0" rtlCol="0" anchor="ctr"/>
          <a:lstStyle/>
          <a:p>
            <a:pPr algn="ctr" indent="0" marL="0">
              <a:buNone/>
            </a:pPr>
            <a:r>
              <a:rPr lang="en-US" sz="1400" dirty="0">
                <a:solidFill>
                  <a:srgbClr val="B4BCD0"/>
                </a:solidFill>
                <a:latin typeface="Arial" pitchFamily="34" charset="0"/>
                <a:ea typeface="Arial" pitchFamily="34" charset="-122"/>
                <a:cs typeface="Arial" pitchFamily="34" charset="-120"/>
              </a:rPr>
              <a:t>→</a:t>
            </a:r>
            <a:endParaRPr lang="en-US" sz="1400" dirty="0"/>
          </a:p>
        </p:txBody>
      </p:sp>
      <p:sp>
        <p:nvSpPr>
          <p:cNvPr id="21" name="Text 19"/>
          <p:cNvSpPr/>
          <p:nvPr/>
        </p:nvSpPr>
        <p:spPr>
          <a:xfrm>
            <a:off x="4023360" y="3593592"/>
            <a:ext cx="320040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API returning empty results</a:t>
            </a:r>
            <a:endParaRPr lang="en-US" sz="1200" dirty="0"/>
          </a:p>
        </p:txBody>
      </p:sp>
      <p:sp>
        <p:nvSpPr>
          <p:cNvPr id="22" name="Text 20"/>
          <p:cNvSpPr/>
          <p:nvPr/>
        </p:nvSpPr>
        <p:spPr>
          <a:xfrm>
            <a:off x="914400" y="3867912"/>
            <a:ext cx="6400800" cy="228600"/>
          </a:xfrm>
          <a:prstGeom prst="rect">
            <a:avLst/>
          </a:prstGeom>
          <a:noFill/>
          <a:ln/>
        </p:spPr>
        <p:txBody>
          <a:bodyPr wrap="square" lIns="0" tIns="0" rIns="0" bIns="0" rtlCol="0" anchor="ctr"/>
          <a:lstStyle/>
          <a:p>
            <a:pPr indent="0" marL="0">
              <a:buNone/>
            </a:pPr>
            <a:r>
              <a:rPr lang="en-US" sz="1000" dirty="0">
                <a:solidFill>
                  <a:srgbClr val="F87171"/>
                </a:solidFill>
                <a:latin typeface="Consolas" pitchFamily="34" charset="0"/>
                <a:ea typeface="Consolas" pitchFamily="34" charset="-122"/>
                <a:cs typeface="Consolas" pitchFamily="34" charset="-120"/>
              </a:rPr>
              <a:t>11-40% success</a:t>
            </a:r>
            <a:endParaRPr lang="en-US" sz="1000" dirty="0"/>
          </a:p>
        </p:txBody>
      </p:sp>
      <p:sp>
        <p:nvSpPr>
          <p:cNvPr id="23" name="Shape 21"/>
          <p:cNvSpPr/>
          <p:nvPr/>
        </p:nvSpPr>
        <p:spPr>
          <a:xfrm>
            <a:off x="731520" y="4389120"/>
            <a:ext cx="7680960" cy="502920"/>
          </a:xfrm>
          <a:prstGeom prst="rect">
            <a:avLst/>
          </a:prstGeom>
          <a:solidFill>
            <a:srgbClr val="282D3F"/>
          </a:solidFill>
          <a:ln/>
          <a:effectLst>
            <a:outerShdw sx="100000" sy="100000" kx="0" ky="0" algn="bl" rotWithShape="0" blurRad="101600" dist="38100" dir="8100000">
              <a:srgbClr val="000000">
                <a:alpha val="25000"/>
              </a:srgbClr>
            </a:outerShdw>
          </a:effectLst>
        </p:spPr>
      </p:sp>
      <p:sp>
        <p:nvSpPr>
          <p:cNvPr id="24" name="Text 22"/>
          <p:cNvSpPr/>
          <p:nvPr/>
        </p:nvSpPr>
        <p:spPr>
          <a:xfrm>
            <a:off x="1005840" y="4434840"/>
            <a:ext cx="7132320" cy="365760"/>
          </a:xfrm>
          <a:prstGeom prst="rect">
            <a:avLst/>
          </a:prstGeom>
          <a:noFill/>
          <a:ln/>
        </p:spPr>
        <p:txBody>
          <a:bodyPr wrap="square" lIns="0" tIns="0" rIns="0" bIns="0" rtlCol="0" anchor="ctr"/>
          <a:lstStyle/>
          <a:p>
            <a:pPr indent="0" marL="0">
              <a:buNone/>
            </a:pPr>
            <a:r>
              <a:rPr lang="en-US" sz="1600" b="1" dirty="0">
                <a:solidFill>
                  <a:srgbClr val="F59E0B"/>
                </a:solidFill>
                <a:latin typeface="Arial" pitchFamily="34" charset="0"/>
                <a:ea typeface="Arial" pitchFamily="34" charset="-122"/>
                <a:cs typeface="Arial" pitchFamily="34" charset="-120"/>
              </a:rPr>
              <a:t>When the agent seems confused, suspect the plumbing.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365760"/>
            <a:ext cx="7680960" cy="548640"/>
          </a:xfrm>
          <a:prstGeom prst="rect">
            <a:avLst/>
          </a:prstGeom>
          <a:noFill/>
          <a:ln/>
        </p:spPr>
        <p:txBody>
          <a:bodyPr wrap="square" lIns="0" tIns="0" rIns="0" bIns="0" rtlCol="0" anchor="ctr"/>
          <a:lstStyle/>
          <a:p>
            <a:pPr indent="0" marL="0">
              <a:buNone/>
            </a:pPr>
            <a:r>
              <a:rPr lang="en-US" sz="2800" b="1" dirty="0">
                <a:solidFill>
                  <a:srgbClr val="FFFFFF"/>
                </a:solidFill>
                <a:latin typeface="Consolas" pitchFamily="34" charset="0"/>
                <a:ea typeface="Consolas" pitchFamily="34" charset="-122"/>
                <a:cs typeface="Consolas" pitchFamily="34" charset="-120"/>
              </a:rPr>
              <a:t>What generalizes</a:t>
            </a:r>
            <a:endParaRPr lang="en-US" sz="2800" dirty="0"/>
          </a:p>
        </p:txBody>
      </p:sp>
      <p:sp>
        <p:nvSpPr>
          <p:cNvPr id="3" name="Text 1"/>
          <p:cNvSpPr/>
          <p:nvPr/>
        </p:nvSpPr>
        <p:spPr>
          <a:xfrm>
            <a:off x="731520" y="1097280"/>
            <a:ext cx="365760" cy="365760"/>
          </a:xfrm>
          <a:prstGeom prst="rect">
            <a:avLst/>
          </a:prstGeom>
          <a:noFill/>
          <a:ln/>
        </p:spPr>
        <p:txBody>
          <a:bodyPr wrap="square" lIns="0" tIns="0" rIns="0" bIns="0" rtlCol="0" anchor="ctr"/>
          <a:lstStyle/>
          <a:p>
            <a:pPr indent="0" marL="0">
              <a:buNone/>
            </a:pPr>
            <a:r>
              <a:rPr lang="en-US" sz="1800" b="1" dirty="0">
                <a:solidFill>
                  <a:srgbClr val="38BDF8"/>
                </a:solidFill>
                <a:latin typeface="Consolas" pitchFamily="34" charset="0"/>
                <a:ea typeface="Consolas" pitchFamily="34" charset="-122"/>
                <a:cs typeface="Consolas" pitchFamily="34" charset="-120"/>
              </a:rPr>
              <a:t>1</a:t>
            </a:r>
            <a:endParaRPr lang="en-US" sz="1800" dirty="0"/>
          </a:p>
        </p:txBody>
      </p:sp>
      <p:sp>
        <p:nvSpPr>
          <p:cNvPr id="4" name="Text 2"/>
          <p:cNvSpPr/>
          <p:nvPr/>
        </p:nvSpPr>
        <p:spPr>
          <a:xfrm>
            <a:off x="1280160" y="1097280"/>
            <a:ext cx="713232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If your agent makes many small sequential tool calls that compose into larger operations, you've reinvented a bad scripting language. Give it a real one.</a:t>
            </a:r>
            <a:endParaRPr lang="en-US" sz="1300" dirty="0"/>
          </a:p>
        </p:txBody>
      </p:sp>
      <p:sp>
        <p:nvSpPr>
          <p:cNvPr id="5" name="Text 3"/>
          <p:cNvSpPr/>
          <p:nvPr/>
        </p:nvSpPr>
        <p:spPr>
          <a:xfrm>
            <a:off x="731520" y="1847088"/>
            <a:ext cx="365760" cy="365760"/>
          </a:xfrm>
          <a:prstGeom prst="rect">
            <a:avLst/>
          </a:prstGeom>
          <a:noFill/>
          <a:ln/>
        </p:spPr>
        <p:txBody>
          <a:bodyPr wrap="square" lIns="0" tIns="0" rIns="0" bIns="0" rtlCol="0" anchor="ctr"/>
          <a:lstStyle/>
          <a:p>
            <a:pPr indent="0" marL="0">
              <a:buNone/>
            </a:pPr>
            <a:r>
              <a:rPr lang="en-US" sz="1800" b="1" dirty="0">
                <a:solidFill>
                  <a:srgbClr val="F59E0B"/>
                </a:solidFill>
                <a:latin typeface="Consolas" pitchFamily="34" charset="0"/>
                <a:ea typeface="Consolas" pitchFamily="34" charset="-122"/>
                <a:cs typeface="Consolas" pitchFamily="34" charset="-120"/>
              </a:rPr>
              <a:t>2</a:t>
            </a:r>
            <a:endParaRPr lang="en-US" sz="1800" dirty="0"/>
          </a:p>
        </p:txBody>
      </p:sp>
      <p:sp>
        <p:nvSpPr>
          <p:cNvPr id="6" name="Text 4"/>
          <p:cNvSpPr/>
          <p:nvPr/>
        </p:nvSpPr>
        <p:spPr>
          <a:xfrm>
            <a:off x="1280160" y="1847088"/>
            <a:ext cx="713232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Structured reasoning &gt; better tools. "Define the end state before you act" caught more errors than any tool improvement.</a:t>
            </a:r>
            <a:endParaRPr lang="en-US" sz="1300" dirty="0"/>
          </a:p>
        </p:txBody>
      </p:sp>
      <p:sp>
        <p:nvSpPr>
          <p:cNvPr id="7" name="Text 5"/>
          <p:cNvSpPr/>
          <p:nvPr/>
        </p:nvSpPr>
        <p:spPr>
          <a:xfrm>
            <a:off x="731520" y="2596896"/>
            <a:ext cx="365760" cy="365760"/>
          </a:xfrm>
          <a:prstGeom prst="rect">
            <a:avLst/>
          </a:prstGeom>
          <a:noFill/>
          <a:ln/>
        </p:spPr>
        <p:txBody>
          <a:bodyPr wrap="square" lIns="0" tIns="0" rIns="0" bIns="0" rtlCol="0" anchor="ctr"/>
          <a:lstStyle/>
          <a:p>
            <a:pPr indent="0" marL="0">
              <a:buNone/>
            </a:pPr>
            <a:r>
              <a:rPr lang="en-US" sz="1800" b="1" dirty="0">
                <a:solidFill>
                  <a:srgbClr val="34D399"/>
                </a:solidFill>
                <a:latin typeface="Consolas" pitchFamily="34" charset="0"/>
                <a:ea typeface="Consolas" pitchFamily="34" charset="-122"/>
                <a:cs typeface="Consolas" pitchFamily="34" charset="-120"/>
              </a:rPr>
              <a:t>3</a:t>
            </a:r>
            <a:endParaRPr lang="en-US" sz="1800" dirty="0"/>
          </a:p>
        </p:txBody>
      </p:sp>
      <p:sp>
        <p:nvSpPr>
          <p:cNvPr id="8" name="Text 6"/>
          <p:cNvSpPr/>
          <p:nvPr/>
        </p:nvSpPr>
        <p:spPr>
          <a:xfrm>
            <a:off x="1280160" y="2596896"/>
            <a:ext cx="713232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Domain knowledge is the product. Tools are replaceable. What the agent knows about your domain is not.</a:t>
            </a:r>
            <a:endParaRPr lang="en-US" sz="1300" dirty="0"/>
          </a:p>
        </p:txBody>
      </p:sp>
      <p:sp>
        <p:nvSpPr>
          <p:cNvPr id="9" name="Text 7"/>
          <p:cNvSpPr/>
          <p:nvPr/>
        </p:nvSpPr>
        <p:spPr>
          <a:xfrm>
            <a:off x="731520" y="3346704"/>
            <a:ext cx="365760" cy="365760"/>
          </a:xfrm>
          <a:prstGeom prst="rect">
            <a:avLst/>
          </a:prstGeom>
          <a:noFill/>
          <a:ln/>
        </p:spPr>
        <p:txBody>
          <a:bodyPr wrap="square" lIns="0" tIns="0" rIns="0" bIns="0" rtlCol="0" anchor="ctr"/>
          <a:lstStyle/>
          <a:p>
            <a:pPr indent="0" marL="0">
              <a:buNone/>
            </a:pPr>
            <a:r>
              <a:rPr lang="en-US" sz="1800" b="1" dirty="0">
                <a:solidFill>
                  <a:srgbClr val="FFFFFF"/>
                </a:solidFill>
                <a:latin typeface="Consolas" pitchFamily="34" charset="0"/>
                <a:ea typeface="Consolas" pitchFamily="34" charset="-122"/>
                <a:cs typeface="Consolas" pitchFamily="34" charset="-120"/>
              </a:rPr>
              <a:t>4</a:t>
            </a:r>
            <a:endParaRPr lang="en-US" sz="1800" dirty="0"/>
          </a:p>
        </p:txBody>
      </p:sp>
      <p:sp>
        <p:nvSpPr>
          <p:cNvPr id="10" name="Text 8"/>
          <p:cNvSpPr/>
          <p:nvPr/>
        </p:nvSpPr>
        <p:spPr>
          <a:xfrm>
            <a:off x="1280160" y="3346704"/>
            <a:ext cx="713232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Evaluate deterministically. LLM-as-judge is fine for vibes. For measuring progress, use programmatic comparison.</a:t>
            </a:r>
            <a:endParaRPr lang="en-US" sz="1300" dirty="0"/>
          </a:p>
        </p:txBody>
      </p:sp>
      <p:sp>
        <p:nvSpPr>
          <p:cNvPr id="11" name="Text 9"/>
          <p:cNvSpPr/>
          <p:nvPr/>
        </p:nvSpPr>
        <p:spPr>
          <a:xfrm>
            <a:off x="731520" y="4096512"/>
            <a:ext cx="365760" cy="365760"/>
          </a:xfrm>
          <a:prstGeom prst="rect">
            <a:avLst/>
          </a:prstGeom>
          <a:noFill/>
          <a:ln/>
        </p:spPr>
        <p:txBody>
          <a:bodyPr wrap="square" lIns="0" tIns="0" rIns="0" bIns="0" rtlCol="0" anchor="ctr"/>
          <a:lstStyle/>
          <a:p>
            <a:pPr indent="0" marL="0">
              <a:buNone/>
            </a:pPr>
            <a:r>
              <a:rPr lang="en-US" sz="1800" b="1" dirty="0">
                <a:solidFill>
                  <a:srgbClr val="F87171"/>
                </a:solidFill>
                <a:latin typeface="Consolas" pitchFamily="34" charset="0"/>
                <a:ea typeface="Consolas" pitchFamily="34" charset="-122"/>
                <a:cs typeface="Consolas" pitchFamily="34" charset="-120"/>
              </a:rPr>
              <a:t>5</a:t>
            </a:r>
            <a:endParaRPr lang="en-US" sz="1800" dirty="0"/>
          </a:p>
        </p:txBody>
      </p:sp>
      <p:sp>
        <p:nvSpPr>
          <p:cNvPr id="12" name="Text 10"/>
          <p:cNvSpPr/>
          <p:nvPr/>
        </p:nvSpPr>
        <p:spPr>
          <a:xfrm>
            <a:off x="1280160" y="4096512"/>
            <a:ext cx="7132320" cy="64008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Blame the plumbing first. Agent "confusion" is usually a bug in the data, the docs, or the infrastructure.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233"/>
        </a:solidFill>
      </p:bgPr>
    </p:bg>
    <p:spTree>
      <p:nvGrpSpPr>
        <p:cNvPr id="1" name=""/>
        <p:cNvGrpSpPr/>
        <p:nvPr/>
      </p:nvGrpSpPr>
      <p:grpSpPr>
        <a:xfrm>
          <a:off x="0" y="0"/>
          <a:ext cx="0" cy="0"/>
          <a:chOff x="0" y="0"/>
          <a:chExt cx="0" cy="0"/>
        </a:xfrm>
      </p:grpSpPr>
      <p:sp>
        <p:nvSpPr>
          <p:cNvPr id="2" name="Text 0"/>
          <p:cNvSpPr/>
          <p:nvPr/>
        </p:nvSpPr>
        <p:spPr>
          <a:xfrm>
            <a:off x="731520" y="731520"/>
            <a:ext cx="7680960" cy="914400"/>
          </a:xfrm>
          <a:prstGeom prst="rect">
            <a:avLst/>
          </a:prstGeom>
          <a:noFill/>
          <a:ln/>
        </p:spPr>
        <p:txBody>
          <a:bodyPr wrap="square" lIns="0" tIns="0" rIns="0" bIns="0" rtlCol="0" anchor="ctr"/>
          <a:lstStyle/>
          <a:p>
            <a:pPr indent="0" marL="0">
              <a:buNone/>
            </a:pPr>
            <a:r>
              <a:rPr lang="en-US" sz="2200" dirty="0">
                <a:solidFill>
                  <a:srgbClr val="B4BCD0"/>
                </a:solidFill>
                <a:latin typeface="Arial" pitchFamily="34" charset="0"/>
                <a:ea typeface="Arial" pitchFamily="34" charset="-122"/>
                <a:cs typeface="Arial" pitchFamily="34" charset="-120"/>
              </a:rPr>
              <a:t>We kept trying to constrain the agent</a:t>
            </a:r>
            <a:endParaRPr lang="en-US" sz="2200" dirty="0"/>
          </a:p>
          <a:p>
            <a:pPr indent="0" marL="0">
              <a:buNone/>
            </a:pPr>
            <a:r>
              <a:rPr lang="en-US" sz="2200" dirty="0">
                <a:solidFill>
                  <a:srgbClr val="B4BCD0"/>
                </a:solidFill>
                <a:latin typeface="Arial" pitchFamily="34" charset="0"/>
                <a:ea typeface="Arial" pitchFamily="34" charset="-122"/>
                <a:cs typeface="Arial" pitchFamily="34" charset="-120"/>
              </a:rPr>
              <a:t>into tighter interactions.</a:t>
            </a:r>
            <a:endParaRPr lang="en-US" sz="2200" dirty="0"/>
          </a:p>
        </p:txBody>
      </p:sp>
      <p:sp>
        <p:nvSpPr>
          <p:cNvPr id="3" name="Text 1"/>
          <p:cNvSpPr/>
          <p:nvPr/>
        </p:nvSpPr>
        <p:spPr>
          <a:xfrm>
            <a:off x="731520" y="1645920"/>
            <a:ext cx="7680960" cy="548640"/>
          </a:xfrm>
          <a:prstGeom prst="rect">
            <a:avLst/>
          </a:prstGeom>
          <a:noFill/>
          <a:ln/>
        </p:spPr>
        <p:txBody>
          <a:bodyPr wrap="square" lIns="0" tIns="0" rIns="0" bIns="0" rtlCol="0" anchor="ctr"/>
          <a:lstStyle/>
          <a:p>
            <a:pPr indent="0" marL="0">
              <a:buNone/>
            </a:pPr>
            <a:r>
              <a:rPr lang="en-US" sz="2200" dirty="0">
                <a:solidFill>
                  <a:srgbClr val="FFFFFF"/>
                </a:solidFill>
                <a:latin typeface="Arial" pitchFamily="34" charset="0"/>
                <a:ea typeface="Arial" pitchFamily="34" charset="-122"/>
                <a:cs typeface="Arial" pitchFamily="34" charset="-120"/>
              </a:rPr>
              <a:t>It kept wanting to program.</a:t>
            </a:r>
            <a:endParaRPr lang="en-US" sz="2200" dirty="0"/>
          </a:p>
        </p:txBody>
      </p:sp>
      <p:sp>
        <p:nvSpPr>
          <p:cNvPr id="4" name="Text 2"/>
          <p:cNvSpPr/>
          <p:nvPr/>
        </p:nvSpPr>
        <p:spPr>
          <a:xfrm>
            <a:off x="731520" y="2194560"/>
            <a:ext cx="7680960" cy="548640"/>
          </a:xfrm>
          <a:prstGeom prst="rect">
            <a:avLst/>
          </a:prstGeom>
          <a:noFill/>
          <a:ln/>
        </p:spPr>
        <p:txBody>
          <a:bodyPr wrap="square" lIns="0" tIns="0" rIns="0" bIns="0" rtlCol="0" anchor="ctr"/>
          <a:lstStyle/>
          <a:p>
            <a:pPr indent="0" marL="0">
              <a:buNone/>
            </a:pPr>
            <a:r>
              <a:rPr lang="en-US" sz="2600" b="1" dirty="0">
                <a:solidFill>
                  <a:srgbClr val="F59E0B"/>
                </a:solidFill>
                <a:latin typeface="Consolas" pitchFamily="34" charset="0"/>
                <a:ea typeface="Consolas" pitchFamily="34" charset="-122"/>
                <a:cs typeface="Consolas" pitchFamily="34" charset="-120"/>
              </a:rPr>
              <a:t>Once we let it, everything changed.</a:t>
            </a:r>
            <a:endParaRPr lang="en-US" sz="2600" dirty="0"/>
          </a:p>
        </p:txBody>
      </p:sp>
      <p:sp>
        <p:nvSpPr>
          <p:cNvPr id="5" name="Shape 3"/>
          <p:cNvSpPr/>
          <p:nvPr/>
        </p:nvSpPr>
        <p:spPr>
          <a:xfrm>
            <a:off x="731520" y="3017520"/>
            <a:ext cx="2743200" cy="0"/>
          </a:xfrm>
          <a:prstGeom prst="line">
            <a:avLst/>
          </a:prstGeom>
          <a:noFill/>
          <a:ln w="12700">
            <a:solidFill>
              <a:srgbClr val="282D3F"/>
            </a:solidFill>
            <a:prstDash val="solid"/>
          </a:ln>
        </p:spPr>
      </p:sp>
      <p:sp>
        <p:nvSpPr>
          <p:cNvPr id="6" name="Text 4"/>
          <p:cNvSpPr/>
          <p:nvPr/>
        </p:nvSpPr>
        <p:spPr>
          <a:xfrm>
            <a:off x="731520" y="3291840"/>
            <a:ext cx="7315200" cy="32004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Research log: </a:t>
            </a:r>
            <a:pPr indent="0" marL="0">
              <a:buNone/>
            </a:pPr>
            <a:r>
              <a:rPr lang="en-US" sz="1300" dirty="0">
                <a:solidFill>
                  <a:srgbClr val="38BDF8"/>
                </a:solidFill>
                <a:latin typeface="Arial" pitchFamily="34" charset="0"/>
                <a:ea typeface="Arial" pitchFamily="34" charset="-122"/>
                <a:cs typeface="Arial" pitchFamily="34" charset="-120"/>
              </a:rPr>
              <a:t>github.com/witanlabs/research-log</a:t>
            </a:r>
            <a:endParaRPr lang="en-US" sz="1300" dirty="0"/>
          </a:p>
        </p:txBody>
      </p:sp>
      <p:sp>
        <p:nvSpPr>
          <p:cNvPr id="7" name="Text 5"/>
          <p:cNvSpPr/>
          <p:nvPr/>
        </p:nvSpPr>
        <p:spPr>
          <a:xfrm>
            <a:off x="731520" y="3611880"/>
            <a:ext cx="7315200" cy="320040"/>
          </a:xfrm>
          <a:prstGeom prst="rect">
            <a:avLst/>
          </a:prstGeom>
          <a:noFill/>
          <a:ln/>
        </p:spPr>
        <p:txBody>
          <a:bodyPr wrap="square" lIns="0" tIns="0" rIns="0" bIns="0" rtlCol="0" anchor="ctr"/>
          <a:lstStyle/>
          <a:p>
            <a:pPr indent="0" marL="0">
              <a:buNone/>
            </a:pPr>
            <a:r>
              <a:rPr lang="en-US" sz="1300" dirty="0">
                <a:solidFill>
                  <a:srgbClr val="B4BCD0"/>
                </a:solidFill>
                <a:latin typeface="Arial" pitchFamily="34" charset="0"/>
                <a:ea typeface="Arial" pitchFamily="34" charset="-122"/>
                <a:cs typeface="Arial" pitchFamily="34" charset="-120"/>
              </a:rPr>
              <a:t>CLI &amp; Skills: </a:t>
            </a:r>
            <a:pPr indent="0" marL="0">
              <a:buNone/>
            </a:pPr>
            <a:r>
              <a:rPr lang="en-US" sz="1300" dirty="0">
                <a:solidFill>
                  <a:srgbClr val="38BDF8"/>
                </a:solidFill>
                <a:latin typeface="Arial" pitchFamily="34" charset="0"/>
                <a:ea typeface="Arial" pitchFamily="34" charset="-122"/>
                <a:cs typeface="Arial" pitchFamily="34" charset="-120"/>
              </a:rPr>
              <a:t>github.com/witanlabs/witan-cli</a:t>
            </a:r>
            <a:endParaRPr lang="en-US" sz="1300" dirty="0"/>
          </a:p>
        </p:txBody>
      </p:sp>
      <p:sp>
        <p:nvSpPr>
          <p:cNvPr id="8" name="Text 6"/>
          <p:cNvSpPr/>
          <p:nvPr/>
        </p:nvSpPr>
        <p:spPr>
          <a:xfrm>
            <a:off x="731520" y="4206240"/>
            <a:ext cx="3657600" cy="6400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Nuno Campos</a:t>
            </a:r>
            <a:endParaRPr lang="en-US" sz="1400" dirty="0"/>
          </a:p>
          <a:p>
            <a:pPr indent="0" marL="0">
              <a:buNone/>
            </a:pPr>
            <a:r>
              <a:rPr lang="en-US" sz="1200" dirty="0">
                <a:solidFill>
                  <a:srgbClr val="B4BCD0"/>
                </a:solidFill>
                <a:latin typeface="Arial" pitchFamily="34" charset="0"/>
                <a:ea typeface="Arial" pitchFamily="34" charset="-122"/>
                <a:cs typeface="Arial" pitchFamily="34" charset="-120"/>
              </a:rPr>
              <a:t>Witan Labs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 Built 15 Tools. The Agent Wanted a REPL.</dc:title>
  <dc:subject>PptxGenJS Presentation</dc:subject>
  <dc:creator>Nuno Campos</dc:creator>
  <cp:lastModifiedBy>Nuno Campos</cp:lastModifiedBy>
  <cp:revision>1</cp:revision>
  <dcterms:created xsi:type="dcterms:W3CDTF">2026-04-08T09:48:07Z</dcterms:created>
  <dcterms:modified xsi:type="dcterms:W3CDTF">2026-04-08T09:48:07Z</dcterms:modified>
</cp:coreProperties>
</file>